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8" r:id="rId2"/>
    <p:sldId id="260" r:id="rId3"/>
    <p:sldId id="267" r:id="rId4"/>
    <p:sldId id="258" r:id="rId5"/>
    <p:sldId id="261" r:id="rId6"/>
    <p:sldId id="263" r:id="rId7"/>
    <p:sldId id="264" r:id="rId8"/>
    <p:sldId id="25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64"/>
    <p:restoredTop sz="94660"/>
  </p:normalViewPr>
  <p:slideViewPr>
    <p:cSldViewPr snapToGrid="0">
      <p:cViewPr varScale="1">
        <p:scale>
          <a:sx n="141" d="100"/>
          <a:sy n="141" d="100"/>
        </p:scale>
        <p:origin x="3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03E0C4-A6FA-4746-AC89-1BF386464435}" type="datetimeFigureOut">
              <a:rPr lang="en-US" smtClean="0"/>
              <a:t>4/1/26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494571-D14A-3047-8F06-66F8EBBBEC81}" type="slidenum">
              <a:rPr lang="en-US" smtClean="0"/>
              <a:t>‹#›</a:t>
            </a:fld>
            <a:endParaRPr lang="en-US"/>
          </a:p>
        </p:txBody>
      </p:sp>
    </p:spTree>
    <p:extLst>
      <p:ext uri="{BB962C8B-B14F-4D97-AF65-F5344CB8AC3E}">
        <p14:creationId xmlns:p14="http://schemas.microsoft.com/office/powerpoint/2010/main" val="4038509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423AD1-A98C-8F49-908E-EDD594A7CA61}" type="slidenum">
              <a:rPr lang="en-US" smtClean="0"/>
              <a:t>4</a:t>
            </a:fld>
            <a:endParaRPr lang="en-US"/>
          </a:p>
        </p:txBody>
      </p:sp>
    </p:spTree>
    <p:extLst>
      <p:ext uri="{BB962C8B-B14F-4D97-AF65-F5344CB8AC3E}">
        <p14:creationId xmlns:p14="http://schemas.microsoft.com/office/powerpoint/2010/main" val="2161096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423AD1-A98C-8F49-908E-EDD594A7CA61}" type="slidenum">
              <a:rPr lang="en-US" smtClean="0"/>
              <a:t>6</a:t>
            </a:fld>
            <a:endParaRPr lang="en-US"/>
          </a:p>
        </p:txBody>
      </p:sp>
    </p:spTree>
    <p:extLst>
      <p:ext uri="{BB962C8B-B14F-4D97-AF65-F5344CB8AC3E}">
        <p14:creationId xmlns:p14="http://schemas.microsoft.com/office/powerpoint/2010/main" val="1064187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5F214-E995-E1F4-095D-9448E71EF4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8AC1C0-7B62-7677-D216-D3055AB72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FFD51A-02A2-8F2D-E58F-B7C41C83E377}"/>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5" name="Footer Placeholder 4">
            <a:extLst>
              <a:ext uri="{FF2B5EF4-FFF2-40B4-BE49-F238E27FC236}">
                <a16:creationId xmlns:a16="http://schemas.microsoft.com/office/drawing/2014/main" id="{33150B80-5257-A538-D7C5-F3E02E5DC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D95E5B-1799-0A8F-2F0D-D9F1ACD4140C}"/>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3290453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34676-E8C4-531E-A5A2-3E26B2B5A7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D6B8AE-291E-095E-3E86-AF0409D6BD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85056C-14AA-A700-0E69-94A79D66B397}"/>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5" name="Footer Placeholder 4">
            <a:extLst>
              <a:ext uri="{FF2B5EF4-FFF2-40B4-BE49-F238E27FC236}">
                <a16:creationId xmlns:a16="http://schemas.microsoft.com/office/drawing/2014/main" id="{FF50ECE2-07A0-41DD-284C-FAB1A11A87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74FF0C-7FEE-8DE0-7FD5-1D276C9F0881}"/>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2427403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C8645-727C-DD0C-0B04-11E4ADEAE3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8F51EE-6D1D-8748-4B14-EC410FB97B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9084FB-A476-F679-0255-9B90B76ECF07}"/>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5" name="Footer Placeholder 4">
            <a:extLst>
              <a:ext uri="{FF2B5EF4-FFF2-40B4-BE49-F238E27FC236}">
                <a16:creationId xmlns:a16="http://schemas.microsoft.com/office/drawing/2014/main" id="{58FB6AE9-64DD-2E80-19D4-71269C7DF3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5E1AC1-0A08-DF20-E580-2A77CEB43540}"/>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1121271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0E58D-2608-FD6D-E6AA-6BCAB228AC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B4D117-61DD-44D6-266C-7525D8FD44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201EC3-3C45-54E5-C584-B364D3A3D9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615BD1-3518-E97E-98CB-FDC5062AD19D}"/>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6" name="Footer Placeholder 5">
            <a:extLst>
              <a:ext uri="{FF2B5EF4-FFF2-40B4-BE49-F238E27FC236}">
                <a16:creationId xmlns:a16="http://schemas.microsoft.com/office/drawing/2014/main" id="{9EED6D14-66EA-7F35-11BF-97DD7679B4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C380C6-3137-1078-F6A2-86F635F27FE4}"/>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1914094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AD847-97ED-AD22-2001-84F1219102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0882F8-2C4E-3A3D-9AED-E8B69638BE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ABB2F-89CA-8256-70F5-A6018EF7CC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D99BB9-4267-C667-B058-B05C4B14EB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2BA3A-48F0-245E-F5F1-44BE6C3FAE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7095FC-D0EF-AE95-CDC4-BA71F9788D41}"/>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8" name="Footer Placeholder 7">
            <a:extLst>
              <a:ext uri="{FF2B5EF4-FFF2-40B4-BE49-F238E27FC236}">
                <a16:creationId xmlns:a16="http://schemas.microsoft.com/office/drawing/2014/main" id="{E2F0664A-FE92-230B-2BF9-EDFED0FEFC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8B4823-1890-DE04-57D3-C81C15A25D33}"/>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1796162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3B773-99AD-0810-5A92-4986C033DC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5AA689B-B899-D0B7-0B06-CA4349D632E1}"/>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4" name="Footer Placeholder 3">
            <a:extLst>
              <a:ext uri="{FF2B5EF4-FFF2-40B4-BE49-F238E27FC236}">
                <a16:creationId xmlns:a16="http://schemas.microsoft.com/office/drawing/2014/main" id="{8E01E21A-A283-F436-F1C8-DDEBF622D0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526DC4-8833-0812-424F-0B7E7251F40E}"/>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961231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610D5D-72E6-30DA-9A61-BFD292618311}"/>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3" name="Footer Placeholder 2">
            <a:extLst>
              <a:ext uri="{FF2B5EF4-FFF2-40B4-BE49-F238E27FC236}">
                <a16:creationId xmlns:a16="http://schemas.microsoft.com/office/drawing/2014/main" id="{2E5D3070-14FF-DAAB-54A3-967E8437B9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613D6A-DDB0-6458-07C7-002211D44568}"/>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3390277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1250C-C9A3-D2F1-D195-9F2A538496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711B474-163A-9D90-8D55-5847C7DDBD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17ECD-3767-EB59-A861-4652DFD71A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655A4B-B847-1811-B5A5-DB632F9D5F7B}"/>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6" name="Footer Placeholder 5">
            <a:extLst>
              <a:ext uri="{FF2B5EF4-FFF2-40B4-BE49-F238E27FC236}">
                <a16:creationId xmlns:a16="http://schemas.microsoft.com/office/drawing/2014/main" id="{1C8D48D6-42CC-2865-9F45-129288BC9C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3CA278-4339-EB48-E232-1388A5FC1281}"/>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1159175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F66E3-FA76-2407-DB41-C918B5E13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3A72A7-BBA4-A114-D569-64536C7666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8632E-78A4-8B53-ED60-2371C2852C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34709E-AE09-DD32-EDA5-9332F3C9ADC3}"/>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6" name="Footer Placeholder 5">
            <a:extLst>
              <a:ext uri="{FF2B5EF4-FFF2-40B4-BE49-F238E27FC236}">
                <a16:creationId xmlns:a16="http://schemas.microsoft.com/office/drawing/2014/main" id="{F8C1A001-C61D-F76C-FC18-DE61A0BAC6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4E4C3-6C1D-0112-E44E-F421F1A9C7CD}"/>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1243946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95DBF-2CBE-DC82-E5AF-0BACE0F3BC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E38821-82D4-27A5-E215-8D598CDD06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E0569B-D087-59F8-9B37-2C3A1FA3CA2B}"/>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5" name="Footer Placeholder 4">
            <a:extLst>
              <a:ext uri="{FF2B5EF4-FFF2-40B4-BE49-F238E27FC236}">
                <a16:creationId xmlns:a16="http://schemas.microsoft.com/office/drawing/2014/main" id="{98A0A87F-8FAB-4056-C24C-2917889A99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B5E91C-404D-15AC-C0AD-3ABAE017A72E}"/>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3284982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4A4D95-D64F-C172-6648-7073C292D4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773C84-5858-4A3A-D7C8-1EADA19EE7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456186-244B-9521-3F38-20AC777BF7E5}"/>
              </a:ext>
            </a:extLst>
          </p:cNvPr>
          <p:cNvSpPr>
            <a:spLocks noGrp="1"/>
          </p:cNvSpPr>
          <p:nvPr>
            <p:ph type="dt" sz="half" idx="10"/>
          </p:nvPr>
        </p:nvSpPr>
        <p:spPr/>
        <p:txBody>
          <a:bodyPr/>
          <a:lstStyle/>
          <a:p>
            <a:fld id="{BD6E7746-8FEB-5A4F-81C2-3861DC22D71D}" type="datetimeFigureOut">
              <a:rPr lang="en-US" smtClean="0"/>
              <a:t>4/1/26</a:t>
            </a:fld>
            <a:endParaRPr lang="en-US"/>
          </a:p>
        </p:txBody>
      </p:sp>
      <p:sp>
        <p:nvSpPr>
          <p:cNvPr id="5" name="Footer Placeholder 4">
            <a:extLst>
              <a:ext uri="{FF2B5EF4-FFF2-40B4-BE49-F238E27FC236}">
                <a16:creationId xmlns:a16="http://schemas.microsoft.com/office/drawing/2014/main" id="{26390E28-4CC7-0F31-E98F-2C34DBAA1F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152486-514A-5B46-18EA-D1712136066F}"/>
              </a:ext>
            </a:extLst>
          </p:cNvPr>
          <p:cNvSpPr>
            <a:spLocks noGrp="1"/>
          </p:cNvSpPr>
          <p:nvPr>
            <p:ph type="sldNum" sz="quarter" idx="12"/>
          </p:nvPr>
        </p:nvSpPr>
        <p:spPr/>
        <p:txBody>
          <a:bodyPr/>
          <a:lstStyle/>
          <a:p>
            <a:fld id="{F5BD47AD-217F-B34C-892F-5A4F2884EBD0}" type="slidenum">
              <a:rPr lang="en-US" smtClean="0"/>
              <a:t>‹#›</a:t>
            </a:fld>
            <a:endParaRPr lang="en-US"/>
          </a:p>
        </p:txBody>
      </p:sp>
    </p:spTree>
    <p:extLst>
      <p:ext uri="{BB962C8B-B14F-4D97-AF65-F5344CB8AC3E}">
        <p14:creationId xmlns:p14="http://schemas.microsoft.com/office/powerpoint/2010/main" val="1849145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0FEA50-3A3B-D7BB-FAF7-B7233B03D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A53348-018C-37DA-293A-B2D9BC2EEF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FD7D0-5459-55D2-41DF-D5CDD62AFD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6E7746-8FEB-5A4F-81C2-3861DC22D71D}" type="datetimeFigureOut">
              <a:rPr lang="en-US" smtClean="0"/>
              <a:t>4/1/26</a:t>
            </a:fld>
            <a:endParaRPr lang="en-US"/>
          </a:p>
        </p:txBody>
      </p:sp>
      <p:sp>
        <p:nvSpPr>
          <p:cNvPr id="5" name="Footer Placeholder 4">
            <a:extLst>
              <a:ext uri="{FF2B5EF4-FFF2-40B4-BE49-F238E27FC236}">
                <a16:creationId xmlns:a16="http://schemas.microsoft.com/office/drawing/2014/main" id="{EA245B12-3899-97D1-F3EA-3CE90E4D72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12BA19-DBE5-B303-1A87-28CEB5F1C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BD47AD-217F-B34C-892F-5A4F2884EBD0}" type="slidenum">
              <a:rPr lang="en-US" smtClean="0"/>
              <a:t>‹#›</a:t>
            </a:fld>
            <a:endParaRPr lang="en-US"/>
          </a:p>
        </p:txBody>
      </p:sp>
    </p:spTree>
    <p:extLst>
      <p:ext uri="{BB962C8B-B14F-4D97-AF65-F5344CB8AC3E}">
        <p14:creationId xmlns:p14="http://schemas.microsoft.com/office/powerpoint/2010/main" val="1832508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hesapeakebay.net/issues/whats-at-risk/underwater-grasses" TargetMode="External"/><Relationship Id="rId2" Type="http://schemas.openxmlformats.org/officeDocument/2006/relationships/hyperlink" Target="http://www.eco-check.org/pdfs/do_letter.pdf" TargetMode="External"/><Relationship Id="rId1" Type="http://schemas.openxmlformats.org/officeDocument/2006/relationships/slideLayout" Target="../slideLayouts/slideLayout1.xml"/><Relationship Id="rId5" Type="http://schemas.openxmlformats.org/officeDocument/2006/relationships/hyperlink" Target="https://www.chesapeakebay.net/issues/threats-to-the-bay/nutrient-runoff" TargetMode="External"/><Relationship Id="rId4" Type="http://schemas.openxmlformats.org/officeDocument/2006/relationships/hyperlink" Target="https://www.chesapeakebay.net/issues/threats-to-the-bay/dead-zone"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6BA754B-ADFD-28F9-7D19-A651FBFFCA3F}"/>
              </a:ext>
            </a:extLst>
          </p:cNvPr>
          <p:cNvSpPr txBox="1"/>
          <p:nvPr/>
        </p:nvSpPr>
        <p:spPr>
          <a:xfrm>
            <a:off x="2520779" y="2347784"/>
            <a:ext cx="7883611"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CGC SCIPE WORKSHOP</a:t>
            </a:r>
            <a:br>
              <a:rPr lang="en-US" sz="3600" b="1" dirty="0">
                <a:latin typeface="Arial" panose="020B0604020202020204" pitchFamily="34" charset="0"/>
                <a:cs typeface="Arial" panose="020B0604020202020204" pitchFamily="34" charset="0"/>
              </a:rPr>
            </a:br>
            <a:r>
              <a:rPr lang="en-US" sz="3600" b="1" dirty="0">
                <a:latin typeface="Arial" panose="020B0604020202020204" pitchFamily="34" charset="0"/>
                <a:cs typeface="Arial" panose="020B0604020202020204" pitchFamily="34" charset="0"/>
              </a:rPr>
              <a:t>Introduction to Machine Learning </a:t>
            </a:r>
          </a:p>
        </p:txBody>
      </p:sp>
      <p:sp>
        <p:nvSpPr>
          <p:cNvPr id="5" name="TextBox 4">
            <a:extLst>
              <a:ext uri="{FF2B5EF4-FFF2-40B4-BE49-F238E27FC236}">
                <a16:creationId xmlns:a16="http://schemas.microsoft.com/office/drawing/2014/main" id="{33977357-5C6E-F9EF-DDFA-DB0D789D8F89}"/>
              </a:ext>
            </a:extLst>
          </p:cNvPr>
          <p:cNvSpPr txBox="1"/>
          <p:nvPr/>
        </p:nvSpPr>
        <p:spPr>
          <a:xfrm>
            <a:off x="8433487" y="5078625"/>
            <a:ext cx="3941806" cy="707886"/>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Xiaoxu Guo</a:t>
            </a:r>
          </a:p>
          <a:p>
            <a:r>
              <a:rPr lang="en-US" sz="2000" b="1" dirty="0">
                <a:latin typeface="Arial" panose="020B0604020202020204" pitchFamily="34" charset="0"/>
                <a:cs typeface="Arial" panose="020B0604020202020204" pitchFamily="34" charset="0"/>
              </a:rPr>
              <a:t>April 2, 2026</a:t>
            </a:r>
          </a:p>
        </p:txBody>
      </p:sp>
      <p:sp>
        <p:nvSpPr>
          <p:cNvPr id="6" name="Slide Number Placeholder 5">
            <a:extLst>
              <a:ext uri="{FF2B5EF4-FFF2-40B4-BE49-F238E27FC236}">
                <a16:creationId xmlns:a16="http://schemas.microsoft.com/office/drawing/2014/main" id="{58E2FC6F-B49E-7F9B-2486-0E0F98916DB9}"/>
              </a:ext>
            </a:extLst>
          </p:cNvPr>
          <p:cNvSpPr>
            <a:spLocks noGrp="1"/>
          </p:cNvSpPr>
          <p:nvPr>
            <p:ph type="sldNum" sz="quarter" idx="12"/>
          </p:nvPr>
        </p:nvSpPr>
        <p:spPr/>
        <p:txBody>
          <a:bodyPr/>
          <a:lstStyle/>
          <a:p>
            <a:fld id="{F7124383-31C5-BC4A-AC5E-07DE6FCF7D02}" type="slidenum">
              <a:rPr lang="en-US" smtClean="0"/>
              <a:t>1</a:t>
            </a:fld>
            <a:endParaRPr lang="en-US"/>
          </a:p>
        </p:txBody>
      </p:sp>
      <p:sp>
        <p:nvSpPr>
          <p:cNvPr id="2" name="TextBox 1">
            <a:extLst>
              <a:ext uri="{FF2B5EF4-FFF2-40B4-BE49-F238E27FC236}">
                <a16:creationId xmlns:a16="http://schemas.microsoft.com/office/drawing/2014/main" id="{7D577C36-5B61-C7AA-81F7-473A3E387F8A}"/>
              </a:ext>
            </a:extLst>
          </p:cNvPr>
          <p:cNvSpPr txBox="1"/>
          <p:nvPr/>
        </p:nvSpPr>
        <p:spPr>
          <a:xfrm>
            <a:off x="1104436" y="3632977"/>
            <a:ext cx="11628798"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Predict Dissolved Oxygen at Depth in Chesapeake Bay from Surface Measurements</a:t>
            </a:r>
          </a:p>
        </p:txBody>
      </p:sp>
    </p:spTree>
    <p:extLst>
      <p:ext uri="{BB962C8B-B14F-4D97-AF65-F5344CB8AC3E}">
        <p14:creationId xmlns:p14="http://schemas.microsoft.com/office/powerpoint/2010/main" val="994772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machine learning&#10;&#10;AI-generated content may be incorrect.">
            <a:extLst>
              <a:ext uri="{FF2B5EF4-FFF2-40B4-BE49-F238E27FC236}">
                <a16:creationId xmlns:a16="http://schemas.microsoft.com/office/drawing/2014/main" id="{D63BE64B-E58F-2292-7C33-AA7CA7AD6F5F}"/>
              </a:ext>
            </a:extLst>
          </p:cNvPr>
          <p:cNvPicPr>
            <a:picLocks noChangeAspect="1"/>
          </p:cNvPicPr>
          <p:nvPr/>
        </p:nvPicPr>
        <p:blipFill>
          <a:blip r:embed="rId2"/>
          <a:stretch>
            <a:fillRect/>
          </a:stretch>
        </p:blipFill>
        <p:spPr>
          <a:xfrm>
            <a:off x="388100" y="562664"/>
            <a:ext cx="5787626" cy="5793686"/>
          </a:xfrm>
          <a:prstGeom prst="rect">
            <a:avLst/>
          </a:prstGeom>
        </p:spPr>
      </p:pic>
      <p:pic>
        <p:nvPicPr>
          <p:cNvPr id="7" name="Picture 6" descr="A diagram of a learning process&#10;&#10;AI-generated content may be incorrect.">
            <a:extLst>
              <a:ext uri="{FF2B5EF4-FFF2-40B4-BE49-F238E27FC236}">
                <a16:creationId xmlns:a16="http://schemas.microsoft.com/office/drawing/2014/main" id="{656F3302-3C38-3FE8-9588-2B5FECCADD4D}"/>
              </a:ext>
            </a:extLst>
          </p:cNvPr>
          <p:cNvPicPr>
            <a:picLocks noChangeAspect="1"/>
          </p:cNvPicPr>
          <p:nvPr/>
        </p:nvPicPr>
        <p:blipFill>
          <a:blip r:embed="rId3"/>
          <a:stretch>
            <a:fillRect/>
          </a:stretch>
        </p:blipFill>
        <p:spPr>
          <a:xfrm>
            <a:off x="6824165" y="688912"/>
            <a:ext cx="4795115" cy="5793686"/>
          </a:xfrm>
          <a:prstGeom prst="rect">
            <a:avLst/>
          </a:prstGeom>
        </p:spPr>
      </p:pic>
      <p:sp>
        <p:nvSpPr>
          <p:cNvPr id="8" name="TextBox 7">
            <a:extLst>
              <a:ext uri="{FF2B5EF4-FFF2-40B4-BE49-F238E27FC236}">
                <a16:creationId xmlns:a16="http://schemas.microsoft.com/office/drawing/2014/main" id="{55966D95-222C-1644-224B-C0CAF35E181D}"/>
              </a:ext>
            </a:extLst>
          </p:cNvPr>
          <p:cNvSpPr txBox="1"/>
          <p:nvPr/>
        </p:nvSpPr>
        <p:spPr>
          <a:xfrm>
            <a:off x="316478" y="6581001"/>
            <a:ext cx="3424377"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Reference: Nebula Cloud</a:t>
            </a:r>
          </a:p>
        </p:txBody>
      </p:sp>
      <p:sp>
        <p:nvSpPr>
          <p:cNvPr id="9" name="TextBox 8">
            <a:extLst>
              <a:ext uri="{FF2B5EF4-FFF2-40B4-BE49-F238E27FC236}">
                <a16:creationId xmlns:a16="http://schemas.microsoft.com/office/drawing/2014/main" id="{C8C92DC5-4C3E-3E4D-4300-3B37EDD5E04C}"/>
              </a:ext>
            </a:extLst>
          </p:cNvPr>
          <p:cNvSpPr txBox="1"/>
          <p:nvPr/>
        </p:nvSpPr>
        <p:spPr>
          <a:xfrm>
            <a:off x="7036592" y="6581000"/>
            <a:ext cx="3424377"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Reference: MATLAB MathWorks</a:t>
            </a:r>
          </a:p>
        </p:txBody>
      </p:sp>
      <p:sp>
        <p:nvSpPr>
          <p:cNvPr id="10" name="Slide Number Placeholder 9">
            <a:extLst>
              <a:ext uri="{FF2B5EF4-FFF2-40B4-BE49-F238E27FC236}">
                <a16:creationId xmlns:a16="http://schemas.microsoft.com/office/drawing/2014/main" id="{415987E8-D729-3F26-CC2A-B92AAF973BC8}"/>
              </a:ext>
            </a:extLst>
          </p:cNvPr>
          <p:cNvSpPr>
            <a:spLocks noGrp="1"/>
          </p:cNvSpPr>
          <p:nvPr>
            <p:ph type="sldNum" sz="quarter" idx="12"/>
          </p:nvPr>
        </p:nvSpPr>
        <p:spPr/>
        <p:txBody>
          <a:bodyPr/>
          <a:lstStyle/>
          <a:p>
            <a:fld id="{83863B2D-D332-084B-BF65-F0D9A30319D9}" type="slidenum">
              <a:rPr lang="en-US" smtClean="0"/>
              <a:t>2</a:t>
            </a:fld>
            <a:endParaRPr lang="en-US"/>
          </a:p>
        </p:txBody>
      </p:sp>
      <p:sp>
        <p:nvSpPr>
          <p:cNvPr id="2" name="Oval 1">
            <a:extLst>
              <a:ext uri="{FF2B5EF4-FFF2-40B4-BE49-F238E27FC236}">
                <a16:creationId xmlns:a16="http://schemas.microsoft.com/office/drawing/2014/main" id="{60EB226D-D991-0A2F-C319-50D183FFC101}"/>
              </a:ext>
            </a:extLst>
          </p:cNvPr>
          <p:cNvSpPr/>
          <p:nvPr/>
        </p:nvSpPr>
        <p:spPr>
          <a:xfrm>
            <a:off x="8610600" y="5005532"/>
            <a:ext cx="1126195" cy="3651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58AAE6C-2950-8E15-265E-5AF837FE752E}"/>
              </a:ext>
            </a:extLst>
          </p:cNvPr>
          <p:cNvSpPr/>
          <p:nvPr/>
        </p:nvSpPr>
        <p:spPr>
          <a:xfrm>
            <a:off x="8610598" y="5498379"/>
            <a:ext cx="1126195" cy="3651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AE7F4BE-C033-7FE9-8D66-645944765964}"/>
              </a:ext>
            </a:extLst>
          </p:cNvPr>
          <p:cNvSpPr/>
          <p:nvPr/>
        </p:nvSpPr>
        <p:spPr>
          <a:xfrm>
            <a:off x="8610599" y="5942903"/>
            <a:ext cx="1126195" cy="36512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89C59D6-1148-00F5-DA46-396148FAE0FF}"/>
              </a:ext>
            </a:extLst>
          </p:cNvPr>
          <p:cNvSpPr/>
          <p:nvPr/>
        </p:nvSpPr>
        <p:spPr>
          <a:xfrm>
            <a:off x="4134528" y="2777779"/>
            <a:ext cx="1010733" cy="2921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24B7362-7267-18D3-A4C3-3461D0A03A33}"/>
              </a:ext>
            </a:extLst>
          </p:cNvPr>
          <p:cNvSpPr/>
          <p:nvPr/>
        </p:nvSpPr>
        <p:spPr>
          <a:xfrm>
            <a:off x="1531042" y="4249220"/>
            <a:ext cx="850900" cy="5207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E65742E-441F-6B90-B42A-8E730E7D6288}"/>
              </a:ext>
            </a:extLst>
          </p:cNvPr>
          <p:cNvSpPr txBox="1"/>
          <p:nvPr/>
        </p:nvSpPr>
        <p:spPr>
          <a:xfrm>
            <a:off x="5212790" y="15829"/>
            <a:ext cx="1766419"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AI and ML</a:t>
            </a:r>
          </a:p>
        </p:txBody>
      </p:sp>
    </p:spTree>
    <p:extLst>
      <p:ext uri="{BB962C8B-B14F-4D97-AF65-F5344CB8AC3E}">
        <p14:creationId xmlns:p14="http://schemas.microsoft.com/office/powerpoint/2010/main" val="2745627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945E6A-CD2C-7927-6EBD-F1123EAEFC4E}"/>
              </a:ext>
            </a:extLst>
          </p:cNvPr>
          <p:cNvSpPr txBox="1"/>
          <p:nvPr/>
        </p:nvSpPr>
        <p:spPr>
          <a:xfrm>
            <a:off x="156385" y="102501"/>
            <a:ext cx="11718940"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Why Predict Dissolved Oxygen at Depth in Chesapeake Bay from Surface Measurements</a:t>
            </a:r>
          </a:p>
        </p:txBody>
      </p:sp>
      <p:sp>
        <p:nvSpPr>
          <p:cNvPr id="11" name="TextBox 10">
            <a:extLst>
              <a:ext uri="{FF2B5EF4-FFF2-40B4-BE49-F238E27FC236}">
                <a16:creationId xmlns:a16="http://schemas.microsoft.com/office/drawing/2014/main" id="{FFFD1B29-BB94-5F8E-F009-504CE4CCCB1F}"/>
              </a:ext>
            </a:extLst>
          </p:cNvPr>
          <p:cNvSpPr txBox="1"/>
          <p:nvPr/>
        </p:nvSpPr>
        <p:spPr>
          <a:xfrm>
            <a:off x="156385" y="526984"/>
            <a:ext cx="11492088" cy="5909310"/>
          </a:xfrm>
          <a:prstGeom prst="rect">
            <a:avLst/>
          </a:prstGeom>
          <a:noFill/>
        </p:spPr>
        <p:txBody>
          <a:bodyPr wrap="square">
            <a:spAutoFit/>
          </a:bodyPr>
          <a:lstStyle/>
          <a:p>
            <a:pPr algn="l" fontAlgn="auto">
              <a:buNone/>
            </a:pPr>
            <a:r>
              <a:rPr lang="en-US" b="0" i="0" u="none" strike="noStrike" dirty="0">
                <a:solidFill>
                  <a:srgbClr val="292929"/>
                </a:solidFill>
                <a:effectLst/>
                <a:latin typeface="Arial" panose="020B0604020202020204" pitchFamily="34" charset="0"/>
                <a:cs typeface="Arial" panose="020B0604020202020204" pitchFamily="34" charset="0"/>
              </a:rPr>
              <a:t>Dissolved oxygen (DO) is the amount of oxygen gas that is present in the water. </a:t>
            </a:r>
          </a:p>
          <a:p>
            <a:pPr algn="l" fontAlgn="auto">
              <a:buNone/>
            </a:pPr>
            <a:endParaRPr lang="en-US" b="1" i="0" u="none" strike="noStrike" dirty="0">
              <a:solidFill>
                <a:srgbClr val="292929"/>
              </a:solidFill>
              <a:effectLst/>
              <a:latin typeface="Arial" panose="020B0604020202020204" pitchFamily="34" charset="0"/>
              <a:cs typeface="Arial" panose="020B0604020202020204" pitchFamily="34" charset="0"/>
            </a:endParaRPr>
          </a:p>
          <a:p>
            <a:pPr algn="l" fontAlgn="auto">
              <a:buNone/>
            </a:pPr>
            <a:r>
              <a:rPr lang="en-US" b="1" i="0" u="none" strike="noStrike" dirty="0">
                <a:solidFill>
                  <a:srgbClr val="292929"/>
                </a:solidFill>
                <a:effectLst/>
                <a:latin typeface="Arial" panose="020B0604020202020204" pitchFamily="34" charset="0"/>
                <a:cs typeface="Arial" panose="020B0604020202020204" pitchFamily="34" charset="0"/>
              </a:rPr>
              <a:t>Why is dissolved oxygen important?</a:t>
            </a:r>
          </a:p>
          <a:p>
            <a:pPr algn="l" fontAlgn="auto">
              <a:buNone/>
            </a:pPr>
            <a:r>
              <a:rPr lang="en-US" b="0" i="0" u="none" strike="noStrike" dirty="0">
                <a:solidFill>
                  <a:srgbClr val="292929"/>
                </a:solidFill>
                <a:effectLst/>
                <a:latin typeface="Arial" panose="020B0604020202020204" pitchFamily="34" charset="0"/>
                <a:cs typeface="Arial" panose="020B0604020202020204" pitchFamily="34" charset="0"/>
              </a:rPr>
              <a:t>Like humans, all of the Chesapeake Bay’s animals—from the fish and crabs that swim through its waters to the worms that bury themselves in its muddy bottom—</a:t>
            </a:r>
            <a:r>
              <a:rPr lang="en-US" b="0" i="0" u="none" strike="noStrike" dirty="0">
                <a:solidFill>
                  <a:srgbClr val="292929"/>
                </a:solidFill>
                <a:effectLst/>
                <a:latin typeface="Arial" panose="020B0604020202020204" pitchFamily="34" charset="0"/>
                <a:cs typeface="Arial" panose="020B0604020202020204" pitchFamily="34" charset="0"/>
                <a:hlinkClick r:id="rId2"/>
              </a:rPr>
              <a:t>need oxygen</a:t>
            </a:r>
            <a:r>
              <a:rPr lang="en-US" b="0" i="0" u="none" strike="noStrike" dirty="0">
                <a:solidFill>
                  <a:srgbClr val="292929"/>
                </a:solidFill>
                <a:effectLst/>
                <a:latin typeface="Arial" panose="020B0604020202020204" pitchFamily="34" charset="0"/>
                <a:cs typeface="Arial" panose="020B0604020202020204" pitchFamily="34" charset="0"/>
              </a:rPr>
              <a:t> to survive.</a:t>
            </a:r>
          </a:p>
          <a:p>
            <a:pPr fontAlgn="auto"/>
            <a:br>
              <a:rPr lang="en-US"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How does oxygen get into the water?</a:t>
            </a:r>
          </a:p>
          <a:p>
            <a:pPr fontAlgn="auto"/>
            <a:r>
              <a:rPr lang="en-US" dirty="0">
                <a:latin typeface="Arial" panose="020B0604020202020204" pitchFamily="34" charset="0"/>
                <a:cs typeface="Arial" panose="020B0604020202020204" pitchFamily="34" charset="0"/>
              </a:rPr>
              <a:t>1. Oxygen from the atmosphere dissolves at the water’s surface (more in cold water than warm).</a:t>
            </a:r>
          </a:p>
          <a:p>
            <a:pPr fontAlgn="auto"/>
            <a:r>
              <a:rPr lang="en-US" dirty="0">
                <a:latin typeface="Arial" panose="020B0604020202020204" pitchFamily="34" charset="0"/>
                <a:cs typeface="Arial" panose="020B0604020202020204" pitchFamily="34" charset="0"/>
              </a:rPr>
              <a:t>2. Algae and </a:t>
            </a:r>
            <a:r>
              <a:rPr lang="en-US" dirty="0">
                <a:latin typeface="Arial" panose="020B0604020202020204" pitchFamily="34" charset="0"/>
                <a:cs typeface="Arial" panose="020B0604020202020204" pitchFamily="34" charset="0"/>
                <a:hlinkClick r:id="rId3"/>
              </a:rPr>
              <a:t>underwater </a:t>
            </a:r>
            <a:r>
              <a:rPr lang="en-US" dirty="0">
                <a:latin typeface="Arial" panose="020B0604020202020204" pitchFamily="34" charset="0"/>
                <a:cs typeface="Arial" panose="020B0604020202020204" pitchFamily="34" charset="0"/>
              </a:rPr>
              <a:t>plants release oxygen during photosynthesis.</a:t>
            </a:r>
          </a:p>
          <a:p>
            <a:pPr fontAlgn="auto"/>
            <a:endParaRPr lang="en-US" b="1" dirty="0">
              <a:latin typeface="Arial" panose="020B0604020202020204" pitchFamily="34" charset="0"/>
              <a:cs typeface="Arial" panose="020B0604020202020204" pitchFamily="34" charset="0"/>
            </a:endParaRPr>
          </a:p>
          <a:p>
            <a:pPr fontAlgn="auto"/>
            <a:r>
              <a:rPr lang="en-US" b="1" dirty="0">
                <a:latin typeface="Arial" panose="020B0604020202020204" pitchFamily="34" charset="0"/>
                <a:cs typeface="Arial" panose="020B0604020202020204" pitchFamily="34" charset="0"/>
              </a:rPr>
              <a:t>How do low-oxygen areas form?</a:t>
            </a:r>
          </a:p>
          <a:p>
            <a:pPr fontAlgn="auto"/>
            <a:r>
              <a:rPr lang="en-US" dirty="0">
                <a:latin typeface="Arial" panose="020B0604020202020204" pitchFamily="34" charset="0"/>
                <a:cs typeface="Arial" panose="020B0604020202020204" pitchFamily="34" charset="0"/>
              </a:rPr>
              <a:t>Respiration or conversion of organic carbon to CO</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requires oxygen. In Chesapeake Bay, phytoplankton that bloom in spring due to nutrients from rivers, eventually sink to the bottom. Bacteria are fueled by this “food”, respiring the organic material and using up oxygen. Warmer temperatures at the Bay surface seal off this low oxygen zone from the atmosphere. This creates hypoxic, or low-oxygen, regions with less than 2 mg/L of dissolved oxygen. These areas are often called “</a:t>
            </a:r>
            <a:r>
              <a:rPr lang="en-US" dirty="0">
                <a:latin typeface="Arial" panose="020B0604020202020204" pitchFamily="34" charset="0"/>
                <a:cs typeface="Arial" panose="020B0604020202020204" pitchFamily="34" charset="0"/>
                <a:hlinkClick r:id="rId4"/>
              </a:rPr>
              <a:t>dead zones</a:t>
            </a:r>
            <a:r>
              <a:rPr lang="en-US" dirty="0">
                <a:latin typeface="Arial" panose="020B0604020202020204" pitchFamily="34" charset="0"/>
                <a:cs typeface="Arial" panose="020B0604020202020204" pitchFamily="34" charset="0"/>
              </a:rPr>
              <a:t>” because most animals cannot survive there. Areas in the Bay that have low dissolved oxygen levels are the result of an interaction of natural and man-made factors, including temperature, </a:t>
            </a:r>
            <a:r>
              <a:rPr lang="en-US" dirty="0">
                <a:latin typeface="Arial" panose="020B0604020202020204" pitchFamily="34" charset="0"/>
                <a:cs typeface="Arial" panose="020B0604020202020204" pitchFamily="34" charset="0"/>
                <a:hlinkClick r:id="rId5"/>
              </a:rPr>
              <a:t>nutrient pollution</a:t>
            </a:r>
            <a:r>
              <a:rPr lang="en-US" dirty="0">
                <a:latin typeface="Arial" panose="020B0604020202020204" pitchFamily="34" charset="0"/>
                <a:cs typeface="Arial" panose="020B0604020202020204" pitchFamily="34" charset="0"/>
              </a:rPr>
              <a:t>, water flows, and the shape of the Bay's bottom.</a:t>
            </a:r>
          </a:p>
          <a:p>
            <a:pPr fontAlgn="auto"/>
            <a:endParaRPr lang="en-US" dirty="0">
              <a:latin typeface="Arial" panose="020B0604020202020204" pitchFamily="34" charset="0"/>
              <a:cs typeface="Arial" panose="020B0604020202020204" pitchFamily="34" charset="0"/>
            </a:endParaRPr>
          </a:p>
          <a:p>
            <a:pPr fontAlgn="auto"/>
            <a:r>
              <a:rPr lang="en-US" dirty="0">
                <a:latin typeface="Arial" panose="020B0604020202020204" pitchFamily="34" charset="0"/>
                <a:cs typeface="Arial" panose="020B0604020202020204" pitchFamily="34" charset="0"/>
              </a:rPr>
              <a:t>Thus, surface quantities like temperature or chlorophyll might be related to the size and intensity of the “Dead Zone” below.</a:t>
            </a:r>
          </a:p>
        </p:txBody>
      </p:sp>
      <p:sp>
        <p:nvSpPr>
          <p:cNvPr id="12" name="TextBox 11">
            <a:extLst>
              <a:ext uri="{FF2B5EF4-FFF2-40B4-BE49-F238E27FC236}">
                <a16:creationId xmlns:a16="http://schemas.microsoft.com/office/drawing/2014/main" id="{9F899034-393B-7C9B-72EE-19F14E4843BF}"/>
              </a:ext>
            </a:extLst>
          </p:cNvPr>
          <p:cNvSpPr txBox="1"/>
          <p:nvPr/>
        </p:nvSpPr>
        <p:spPr>
          <a:xfrm>
            <a:off x="156385" y="6380723"/>
            <a:ext cx="14799734" cy="461665"/>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Reference: </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https://</a:t>
            </a:r>
            <a:r>
              <a:rPr lang="en-US" sz="1200" dirty="0" err="1">
                <a:latin typeface="Arial" panose="020B0604020202020204" pitchFamily="34" charset="0"/>
                <a:cs typeface="Arial" panose="020B0604020202020204" pitchFamily="34" charset="0"/>
              </a:rPr>
              <a:t>www.chesapeakebay.net</a:t>
            </a:r>
            <a:r>
              <a:rPr lang="en-US" sz="1200" dirty="0">
                <a:latin typeface="Arial" panose="020B0604020202020204" pitchFamily="34" charset="0"/>
                <a:cs typeface="Arial" panose="020B0604020202020204" pitchFamily="34" charset="0"/>
              </a:rPr>
              <a:t>/discover/ecosystem/dissolved-oxygen#:~:text=Why%20is%20dissolved%20oxygen%20important,bottom—need%20oxygen%20to%20survive.</a:t>
            </a:r>
          </a:p>
        </p:txBody>
      </p:sp>
      <p:sp>
        <p:nvSpPr>
          <p:cNvPr id="13" name="Slide Number Placeholder 12">
            <a:extLst>
              <a:ext uri="{FF2B5EF4-FFF2-40B4-BE49-F238E27FC236}">
                <a16:creationId xmlns:a16="http://schemas.microsoft.com/office/drawing/2014/main" id="{2000F8AD-BA81-0342-F59E-8F8599BEF7B8}"/>
              </a:ext>
            </a:extLst>
          </p:cNvPr>
          <p:cNvSpPr>
            <a:spLocks noGrp="1"/>
          </p:cNvSpPr>
          <p:nvPr>
            <p:ph type="sldNum" sz="quarter" idx="12"/>
          </p:nvPr>
        </p:nvSpPr>
        <p:spPr/>
        <p:txBody>
          <a:bodyPr/>
          <a:lstStyle/>
          <a:p>
            <a:fld id="{83863B2D-D332-084B-BF65-F0D9A30319D9}" type="slidenum">
              <a:rPr lang="en-US" smtClean="0"/>
              <a:t>3</a:t>
            </a:fld>
            <a:endParaRPr lang="en-US"/>
          </a:p>
        </p:txBody>
      </p:sp>
    </p:spTree>
    <p:extLst>
      <p:ext uri="{BB962C8B-B14F-4D97-AF65-F5344CB8AC3E}">
        <p14:creationId xmlns:p14="http://schemas.microsoft.com/office/powerpoint/2010/main" val="2513334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Up-Down Arrow 95">
            <a:extLst>
              <a:ext uri="{FF2B5EF4-FFF2-40B4-BE49-F238E27FC236}">
                <a16:creationId xmlns:a16="http://schemas.microsoft.com/office/drawing/2014/main" id="{64B89BD2-C239-56B7-6B4D-A963E9988CAC}"/>
              </a:ext>
            </a:extLst>
          </p:cNvPr>
          <p:cNvSpPr/>
          <p:nvPr/>
        </p:nvSpPr>
        <p:spPr>
          <a:xfrm>
            <a:off x="6285526" y="4262225"/>
            <a:ext cx="417583" cy="787019"/>
          </a:xfrm>
          <a:prstGeom prst="upDownArrow">
            <a:avLst/>
          </a:prstGeom>
          <a:pattFill prst="ltHorz">
            <a:fgClr>
              <a:schemeClr val="bg1"/>
            </a:fgClr>
            <a:bgClr>
              <a:schemeClr val="bg2">
                <a:lumMod val="90000"/>
              </a:schemeClr>
            </a:bgClr>
          </a:pattFill>
          <a:ln>
            <a:noFill/>
            <a:prstDash val="solid"/>
            <a:extLst>
              <a:ext uri="{C807C97D-BFC1-408E-A445-0C87EB9F89A2}">
                <ask:lineSketchStyleProps xmlns:ask="http://schemas.microsoft.com/office/drawing/2018/sketchyshapes" sd="1219033472">
                  <a:custGeom>
                    <a:avLst/>
                    <a:gdLst>
                      <a:gd name="connsiteX0" fmla="*/ 0 w 252355"/>
                      <a:gd name="connsiteY0" fmla="*/ 126178 h 715833"/>
                      <a:gd name="connsiteX1" fmla="*/ 126178 w 252355"/>
                      <a:gd name="connsiteY1" fmla="*/ 0 h 715833"/>
                      <a:gd name="connsiteX2" fmla="*/ 252355 w 252355"/>
                      <a:gd name="connsiteY2" fmla="*/ 126178 h 715833"/>
                      <a:gd name="connsiteX3" fmla="*/ 189266 w 252355"/>
                      <a:gd name="connsiteY3" fmla="*/ 126178 h 715833"/>
                      <a:gd name="connsiteX4" fmla="*/ 189266 w 252355"/>
                      <a:gd name="connsiteY4" fmla="*/ 589656 h 715833"/>
                      <a:gd name="connsiteX5" fmla="*/ 252355 w 252355"/>
                      <a:gd name="connsiteY5" fmla="*/ 589656 h 715833"/>
                      <a:gd name="connsiteX6" fmla="*/ 126178 w 252355"/>
                      <a:gd name="connsiteY6" fmla="*/ 715833 h 715833"/>
                      <a:gd name="connsiteX7" fmla="*/ 0 w 252355"/>
                      <a:gd name="connsiteY7" fmla="*/ 589656 h 715833"/>
                      <a:gd name="connsiteX8" fmla="*/ 63089 w 252355"/>
                      <a:gd name="connsiteY8" fmla="*/ 589656 h 715833"/>
                      <a:gd name="connsiteX9" fmla="*/ 63089 w 252355"/>
                      <a:gd name="connsiteY9" fmla="*/ 126178 h 715833"/>
                      <a:gd name="connsiteX10" fmla="*/ 0 w 252355"/>
                      <a:gd name="connsiteY10" fmla="*/ 126178 h 71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2355" h="715833" fill="none" extrusionOk="0">
                        <a:moveTo>
                          <a:pt x="0" y="126178"/>
                        </a:moveTo>
                        <a:cubicBezTo>
                          <a:pt x="18894" y="101053"/>
                          <a:pt x="72486" y="65975"/>
                          <a:pt x="126178" y="0"/>
                        </a:cubicBezTo>
                        <a:cubicBezTo>
                          <a:pt x="162219" y="30467"/>
                          <a:pt x="221987" y="110270"/>
                          <a:pt x="252355" y="126178"/>
                        </a:cubicBezTo>
                        <a:cubicBezTo>
                          <a:pt x="241033" y="130503"/>
                          <a:pt x="220693" y="129067"/>
                          <a:pt x="189266" y="126178"/>
                        </a:cubicBezTo>
                        <a:cubicBezTo>
                          <a:pt x="171132" y="294961"/>
                          <a:pt x="189406" y="462714"/>
                          <a:pt x="189266" y="589656"/>
                        </a:cubicBezTo>
                        <a:cubicBezTo>
                          <a:pt x="196685" y="588389"/>
                          <a:pt x="243114" y="588565"/>
                          <a:pt x="252355" y="589656"/>
                        </a:cubicBezTo>
                        <a:cubicBezTo>
                          <a:pt x="220668" y="636871"/>
                          <a:pt x="163504" y="683321"/>
                          <a:pt x="126178" y="715833"/>
                        </a:cubicBezTo>
                        <a:cubicBezTo>
                          <a:pt x="82731" y="687289"/>
                          <a:pt x="45051" y="612162"/>
                          <a:pt x="0" y="589656"/>
                        </a:cubicBezTo>
                        <a:cubicBezTo>
                          <a:pt x="22038" y="592917"/>
                          <a:pt x="51992" y="588023"/>
                          <a:pt x="63089" y="589656"/>
                        </a:cubicBezTo>
                        <a:cubicBezTo>
                          <a:pt x="83565" y="540680"/>
                          <a:pt x="42763" y="223211"/>
                          <a:pt x="63089" y="126178"/>
                        </a:cubicBezTo>
                        <a:cubicBezTo>
                          <a:pt x="46023" y="120924"/>
                          <a:pt x="18273" y="128969"/>
                          <a:pt x="0" y="126178"/>
                        </a:cubicBezTo>
                        <a:close/>
                      </a:path>
                      <a:path w="252355" h="715833" stroke="0" extrusionOk="0">
                        <a:moveTo>
                          <a:pt x="0" y="126178"/>
                        </a:moveTo>
                        <a:cubicBezTo>
                          <a:pt x="50869" y="91841"/>
                          <a:pt x="113208" y="30290"/>
                          <a:pt x="126178" y="0"/>
                        </a:cubicBezTo>
                        <a:cubicBezTo>
                          <a:pt x="182198" y="50057"/>
                          <a:pt x="238263" y="113203"/>
                          <a:pt x="252355" y="126178"/>
                        </a:cubicBezTo>
                        <a:cubicBezTo>
                          <a:pt x="232176" y="128460"/>
                          <a:pt x="214004" y="129949"/>
                          <a:pt x="189266" y="126178"/>
                        </a:cubicBezTo>
                        <a:cubicBezTo>
                          <a:pt x="219699" y="178330"/>
                          <a:pt x="155041" y="463415"/>
                          <a:pt x="189266" y="589656"/>
                        </a:cubicBezTo>
                        <a:cubicBezTo>
                          <a:pt x="216256" y="587662"/>
                          <a:pt x="220871" y="591281"/>
                          <a:pt x="252355" y="589656"/>
                        </a:cubicBezTo>
                        <a:cubicBezTo>
                          <a:pt x="237115" y="619749"/>
                          <a:pt x="171365" y="658826"/>
                          <a:pt x="126178" y="715833"/>
                        </a:cubicBezTo>
                        <a:cubicBezTo>
                          <a:pt x="90864" y="675576"/>
                          <a:pt x="63594" y="640282"/>
                          <a:pt x="0" y="589656"/>
                        </a:cubicBezTo>
                        <a:cubicBezTo>
                          <a:pt x="30920" y="585758"/>
                          <a:pt x="49313" y="595302"/>
                          <a:pt x="63089" y="589656"/>
                        </a:cubicBezTo>
                        <a:cubicBezTo>
                          <a:pt x="35112" y="429300"/>
                          <a:pt x="101001" y="322874"/>
                          <a:pt x="63089" y="126178"/>
                        </a:cubicBezTo>
                        <a:cubicBezTo>
                          <a:pt x="50894" y="129667"/>
                          <a:pt x="21314" y="129575"/>
                          <a:pt x="0" y="126178"/>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CAC7FA3-D97C-D8DB-4223-272FFB670D4D}"/>
              </a:ext>
            </a:extLst>
          </p:cNvPr>
          <p:cNvSpPr/>
          <p:nvPr/>
        </p:nvSpPr>
        <p:spPr>
          <a:xfrm>
            <a:off x="4680690" y="3745167"/>
            <a:ext cx="1608664" cy="787019"/>
          </a:xfrm>
          <a:prstGeom prst="rect">
            <a:avLst/>
          </a:prstGeom>
          <a:solidFill>
            <a:schemeClr val="accent2">
              <a:lumMod val="60000"/>
              <a:lumOff val="4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324BB28-797A-51C9-579D-EA22089DB2C0}"/>
              </a:ext>
            </a:extLst>
          </p:cNvPr>
          <p:cNvSpPr/>
          <p:nvPr/>
        </p:nvSpPr>
        <p:spPr>
          <a:xfrm>
            <a:off x="4666896" y="2648130"/>
            <a:ext cx="1608664" cy="787019"/>
          </a:xfrm>
          <a:prstGeom prst="rect">
            <a:avLst/>
          </a:prstGeom>
          <a:solidFill>
            <a:schemeClr val="accent2">
              <a:lumMod val="60000"/>
              <a:lumOff val="4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82D53D6-8FA8-51AF-DAF9-03A6342F5314}"/>
              </a:ext>
            </a:extLst>
          </p:cNvPr>
          <p:cNvSpPr/>
          <p:nvPr/>
        </p:nvSpPr>
        <p:spPr>
          <a:xfrm>
            <a:off x="4680690" y="1555579"/>
            <a:ext cx="1504245" cy="787019"/>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A9DF35A-4ACE-CEF0-D9C8-F964D3A5B036}"/>
              </a:ext>
            </a:extLst>
          </p:cNvPr>
          <p:cNvSpPr/>
          <p:nvPr/>
        </p:nvSpPr>
        <p:spPr>
          <a:xfrm>
            <a:off x="4680692" y="475390"/>
            <a:ext cx="1504245" cy="787019"/>
          </a:xfrm>
          <a:prstGeom prst="rect">
            <a:avLst/>
          </a:prstGeom>
          <a:solidFill>
            <a:schemeClr val="accent1">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7E93BC8-85B2-97B2-5194-E83ED1E99A41}"/>
              </a:ext>
            </a:extLst>
          </p:cNvPr>
          <p:cNvSpPr txBox="1"/>
          <p:nvPr/>
        </p:nvSpPr>
        <p:spPr>
          <a:xfrm>
            <a:off x="4637649" y="672423"/>
            <a:ext cx="1605846"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Measurement</a:t>
            </a:r>
          </a:p>
        </p:txBody>
      </p:sp>
      <p:sp>
        <p:nvSpPr>
          <p:cNvPr id="7" name="TextBox 6">
            <a:extLst>
              <a:ext uri="{FF2B5EF4-FFF2-40B4-BE49-F238E27FC236}">
                <a16:creationId xmlns:a16="http://schemas.microsoft.com/office/drawing/2014/main" id="{A17C388F-25EA-C27E-2E4A-BFAF258F94D5}"/>
              </a:ext>
            </a:extLst>
          </p:cNvPr>
          <p:cNvSpPr txBox="1"/>
          <p:nvPr/>
        </p:nvSpPr>
        <p:spPr>
          <a:xfrm>
            <a:off x="4847652" y="1619010"/>
            <a:ext cx="1150053"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Data Retrieval</a:t>
            </a:r>
          </a:p>
        </p:txBody>
      </p:sp>
      <p:pic>
        <p:nvPicPr>
          <p:cNvPr id="10" name="Picture 9" descr="A logo with a yellow circle and white text&#10;&#10;AI-generated content may be incorrect.">
            <a:extLst>
              <a:ext uri="{FF2B5EF4-FFF2-40B4-BE49-F238E27FC236}">
                <a16:creationId xmlns:a16="http://schemas.microsoft.com/office/drawing/2014/main" id="{73AD6C96-15CE-0D36-A1F6-11FAC8864B73}"/>
              </a:ext>
            </a:extLst>
          </p:cNvPr>
          <p:cNvPicPr>
            <a:picLocks noChangeAspect="1"/>
          </p:cNvPicPr>
          <p:nvPr/>
        </p:nvPicPr>
        <p:blipFill>
          <a:blip r:embed="rId3"/>
          <a:stretch>
            <a:fillRect/>
          </a:stretch>
        </p:blipFill>
        <p:spPr>
          <a:xfrm>
            <a:off x="2278547" y="847075"/>
            <a:ext cx="1682045" cy="627357"/>
          </a:xfrm>
          <a:prstGeom prst="rect">
            <a:avLst/>
          </a:prstGeom>
        </p:spPr>
      </p:pic>
      <p:sp>
        <p:nvSpPr>
          <p:cNvPr id="17" name="TextBox 16">
            <a:extLst>
              <a:ext uri="{FF2B5EF4-FFF2-40B4-BE49-F238E27FC236}">
                <a16:creationId xmlns:a16="http://schemas.microsoft.com/office/drawing/2014/main" id="{0C0555F5-5871-79DB-0B1C-BBEF7B27AF12}"/>
              </a:ext>
            </a:extLst>
          </p:cNvPr>
          <p:cNvSpPr txBox="1"/>
          <p:nvPr/>
        </p:nvSpPr>
        <p:spPr>
          <a:xfrm>
            <a:off x="4758687" y="2719800"/>
            <a:ext cx="1343378"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Data Cleaning</a:t>
            </a:r>
          </a:p>
        </p:txBody>
      </p:sp>
      <p:sp>
        <p:nvSpPr>
          <p:cNvPr id="18" name="TextBox 17">
            <a:extLst>
              <a:ext uri="{FF2B5EF4-FFF2-40B4-BE49-F238E27FC236}">
                <a16:creationId xmlns:a16="http://schemas.microsoft.com/office/drawing/2014/main" id="{17917A1D-CC5C-FC86-02F7-32C27FB11078}"/>
              </a:ext>
            </a:extLst>
          </p:cNvPr>
          <p:cNvSpPr txBox="1"/>
          <p:nvPr/>
        </p:nvSpPr>
        <p:spPr>
          <a:xfrm>
            <a:off x="4531111" y="3815510"/>
            <a:ext cx="1907822" cy="646331"/>
          </a:xfrm>
          <a:prstGeom prst="rect">
            <a:avLst/>
          </a:prstGeom>
          <a:noFill/>
        </p:spPr>
        <p:txBody>
          <a:bodyPr wrap="square" rtlCol="0">
            <a:spAutoFit/>
          </a:bodyPr>
          <a:lstStyle/>
          <a:p>
            <a:pPr algn="ctr"/>
            <a:r>
              <a:rPr lang="en-US" dirty="0"/>
              <a:t>Data Reconstruction</a:t>
            </a:r>
          </a:p>
        </p:txBody>
      </p:sp>
      <p:sp>
        <p:nvSpPr>
          <p:cNvPr id="23" name="Rectangle 22">
            <a:extLst>
              <a:ext uri="{FF2B5EF4-FFF2-40B4-BE49-F238E27FC236}">
                <a16:creationId xmlns:a16="http://schemas.microsoft.com/office/drawing/2014/main" id="{BFC8B01F-12D1-73BD-9FA2-194C84599E98}"/>
              </a:ext>
            </a:extLst>
          </p:cNvPr>
          <p:cNvSpPr/>
          <p:nvPr/>
        </p:nvSpPr>
        <p:spPr>
          <a:xfrm>
            <a:off x="4666896" y="4906379"/>
            <a:ext cx="1608664" cy="787019"/>
          </a:xfrm>
          <a:prstGeom prst="rect">
            <a:avLst/>
          </a:prstGeom>
          <a:solidFill>
            <a:schemeClr val="bg2">
              <a:lumMod val="75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83FF19D-EAF2-D9AE-88D5-B4AAC3ECAB26}"/>
              </a:ext>
            </a:extLst>
          </p:cNvPr>
          <p:cNvSpPr txBox="1"/>
          <p:nvPr/>
        </p:nvSpPr>
        <p:spPr>
          <a:xfrm>
            <a:off x="4505520" y="5002920"/>
            <a:ext cx="1907822" cy="646331"/>
          </a:xfrm>
          <a:prstGeom prst="rect">
            <a:avLst/>
          </a:prstGeom>
          <a:noFill/>
        </p:spPr>
        <p:txBody>
          <a:bodyPr wrap="square" rtlCol="0">
            <a:spAutoFit/>
          </a:bodyPr>
          <a:lstStyle/>
          <a:p>
            <a:pPr algn="ctr"/>
            <a:r>
              <a:rPr lang="en-US" dirty="0"/>
              <a:t>Modeling/</a:t>
            </a:r>
          </a:p>
          <a:p>
            <a:pPr algn="ctr"/>
            <a:r>
              <a:rPr lang="en-US" dirty="0"/>
              <a:t>Validation</a:t>
            </a:r>
          </a:p>
        </p:txBody>
      </p:sp>
      <p:sp>
        <p:nvSpPr>
          <p:cNvPr id="26" name="TextBox 25">
            <a:extLst>
              <a:ext uri="{FF2B5EF4-FFF2-40B4-BE49-F238E27FC236}">
                <a16:creationId xmlns:a16="http://schemas.microsoft.com/office/drawing/2014/main" id="{1D676AE0-2C7F-D2B4-39CF-A70D9FC87BE6}"/>
              </a:ext>
            </a:extLst>
          </p:cNvPr>
          <p:cNvSpPr txBox="1"/>
          <p:nvPr/>
        </p:nvSpPr>
        <p:spPr>
          <a:xfrm>
            <a:off x="2278547" y="1558548"/>
            <a:ext cx="1646845" cy="461665"/>
          </a:xfrm>
          <a:prstGeom prst="rect">
            <a:avLst/>
          </a:prstGeom>
          <a:noFill/>
        </p:spPr>
        <p:txBody>
          <a:bodyPr wrap="square">
            <a:spAutoFit/>
          </a:bodyPr>
          <a:lstStyle/>
          <a:p>
            <a:pPr algn="ctr"/>
            <a:r>
              <a:rPr lang="en-US" sz="1200" dirty="0">
                <a:solidFill>
                  <a:srgbClr val="1F1F1F"/>
                </a:solidFill>
                <a:latin typeface="Arial" panose="020B0604020202020204" pitchFamily="34" charset="0"/>
                <a:cs typeface="Arial" panose="020B0604020202020204" pitchFamily="34" charset="0"/>
              </a:rPr>
              <a:t>Variables, </a:t>
            </a:r>
          </a:p>
          <a:p>
            <a:pPr algn="ctr"/>
            <a:r>
              <a:rPr lang="en-US" sz="1200" dirty="0">
                <a:solidFill>
                  <a:srgbClr val="1F1F1F"/>
                </a:solidFill>
                <a:latin typeface="Arial" panose="020B0604020202020204" pitchFamily="34" charset="0"/>
                <a:cs typeface="Arial" panose="020B0604020202020204" pitchFamily="34" charset="0"/>
              </a:rPr>
              <a:t>Date Range, …</a:t>
            </a:r>
            <a:endParaRPr lang="en-US" sz="1200" b="0" i="0" u="none" strike="noStrike" dirty="0">
              <a:solidFill>
                <a:srgbClr val="1F1F1F"/>
              </a:solidFill>
              <a:effectLst/>
              <a:latin typeface="Arial" panose="020B0604020202020204" pitchFamily="34" charset="0"/>
              <a:cs typeface="Arial" panose="020B0604020202020204" pitchFamily="34" charset="0"/>
            </a:endParaRPr>
          </a:p>
        </p:txBody>
      </p:sp>
      <p:pic>
        <p:nvPicPr>
          <p:cNvPr id="28" name="Picture 27" descr="A table with black text&#10;&#10;AI-generated content may be incorrect.">
            <a:extLst>
              <a:ext uri="{FF2B5EF4-FFF2-40B4-BE49-F238E27FC236}">
                <a16:creationId xmlns:a16="http://schemas.microsoft.com/office/drawing/2014/main" id="{5D9D7A5A-8800-8062-042E-7D69320992DD}"/>
              </a:ext>
            </a:extLst>
          </p:cNvPr>
          <p:cNvPicPr>
            <a:picLocks noChangeAspect="1"/>
          </p:cNvPicPr>
          <p:nvPr/>
        </p:nvPicPr>
        <p:blipFill>
          <a:blip r:embed="rId4"/>
          <a:stretch>
            <a:fillRect/>
          </a:stretch>
        </p:blipFill>
        <p:spPr>
          <a:xfrm>
            <a:off x="220209" y="823736"/>
            <a:ext cx="1968845" cy="2333728"/>
          </a:xfrm>
          <a:prstGeom prst="rect">
            <a:avLst/>
          </a:prstGeom>
        </p:spPr>
      </p:pic>
      <p:pic>
        <p:nvPicPr>
          <p:cNvPr id="30" name="Picture 29" descr="A screenshot of a graph&#10;&#10;AI-generated content may be incorrect.">
            <a:extLst>
              <a:ext uri="{FF2B5EF4-FFF2-40B4-BE49-F238E27FC236}">
                <a16:creationId xmlns:a16="http://schemas.microsoft.com/office/drawing/2014/main" id="{1086384F-9562-B650-3F59-27EDB643B306}"/>
              </a:ext>
            </a:extLst>
          </p:cNvPr>
          <p:cNvPicPr>
            <a:picLocks noChangeAspect="1"/>
          </p:cNvPicPr>
          <p:nvPr/>
        </p:nvPicPr>
        <p:blipFill>
          <a:blip r:embed="rId5"/>
          <a:stretch>
            <a:fillRect/>
          </a:stretch>
        </p:blipFill>
        <p:spPr>
          <a:xfrm>
            <a:off x="391368" y="4368581"/>
            <a:ext cx="3695004" cy="1627018"/>
          </a:xfrm>
          <a:prstGeom prst="rect">
            <a:avLst/>
          </a:prstGeom>
        </p:spPr>
      </p:pic>
      <p:sp>
        <p:nvSpPr>
          <p:cNvPr id="31" name="Rectangle 30">
            <a:extLst>
              <a:ext uri="{FF2B5EF4-FFF2-40B4-BE49-F238E27FC236}">
                <a16:creationId xmlns:a16="http://schemas.microsoft.com/office/drawing/2014/main" id="{FA1B5AE4-DE46-90C0-0DE5-46DEE4438F54}"/>
              </a:ext>
            </a:extLst>
          </p:cNvPr>
          <p:cNvSpPr/>
          <p:nvPr/>
        </p:nvSpPr>
        <p:spPr>
          <a:xfrm>
            <a:off x="4642451" y="6031880"/>
            <a:ext cx="1608664" cy="585108"/>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D1BA485-E003-7203-8E2E-3B78DB60DEB8}"/>
              </a:ext>
            </a:extLst>
          </p:cNvPr>
          <p:cNvSpPr txBox="1"/>
          <p:nvPr/>
        </p:nvSpPr>
        <p:spPr>
          <a:xfrm>
            <a:off x="4477953" y="6116983"/>
            <a:ext cx="1907822" cy="369332"/>
          </a:xfrm>
          <a:prstGeom prst="rect">
            <a:avLst/>
          </a:prstGeom>
          <a:noFill/>
        </p:spPr>
        <p:txBody>
          <a:bodyPr wrap="square" rtlCol="0">
            <a:spAutoFit/>
          </a:bodyPr>
          <a:lstStyle/>
          <a:p>
            <a:pPr algn="ctr"/>
            <a:r>
              <a:rPr lang="en-US" dirty="0"/>
              <a:t>Discussion</a:t>
            </a:r>
          </a:p>
        </p:txBody>
      </p:sp>
      <p:sp>
        <p:nvSpPr>
          <p:cNvPr id="34" name="TextBox 33">
            <a:extLst>
              <a:ext uri="{FF2B5EF4-FFF2-40B4-BE49-F238E27FC236}">
                <a16:creationId xmlns:a16="http://schemas.microsoft.com/office/drawing/2014/main" id="{939A6A7A-3BC3-4A33-43D6-342A91747E9B}"/>
              </a:ext>
            </a:extLst>
          </p:cNvPr>
          <p:cNvSpPr txBox="1"/>
          <p:nvPr/>
        </p:nvSpPr>
        <p:spPr>
          <a:xfrm>
            <a:off x="1995368" y="2415402"/>
            <a:ext cx="2395624" cy="646331"/>
          </a:xfrm>
          <a:prstGeom prst="rect">
            <a:avLst/>
          </a:prstGeom>
          <a:noFill/>
        </p:spPr>
        <p:txBody>
          <a:bodyPr wrap="square">
            <a:spAutoFit/>
          </a:bodyPr>
          <a:lstStyle/>
          <a:p>
            <a:pPr algn="ctr"/>
            <a:r>
              <a:rPr lang="en-US" sz="1200" b="0" i="0" u="none" strike="noStrike" dirty="0">
                <a:solidFill>
                  <a:srgbClr val="1F1F1F"/>
                </a:solidFill>
                <a:effectLst/>
                <a:latin typeface="Arial" panose="020B0604020202020204" pitchFamily="34" charset="0"/>
                <a:cs typeface="Arial" panose="020B0604020202020204" pitchFamily="34" charset="0"/>
              </a:rPr>
              <a:t>Total number of rows: 61053, columns 29, </a:t>
            </a:r>
          </a:p>
          <a:p>
            <a:pPr algn="ctr"/>
            <a:r>
              <a:rPr lang="en-US" sz="1200" b="0" i="0" u="none" strike="noStrike" dirty="0">
                <a:solidFill>
                  <a:srgbClr val="1F1F1F"/>
                </a:solidFill>
                <a:effectLst/>
                <a:latin typeface="Arial" panose="020B0604020202020204" pitchFamily="34" charset="0"/>
                <a:cs typeface="Arial" panose="020B0604020202020204" pitchFamily="34" charset="0"/>
              </a:rPr>
              <a:t>Number of days 813 …</a:t>
            </a:r>
            <a:endParaRPr lang="en-US" sz="12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BCB37CAE-5F98-F0A5-A942-C710EEA8B162}"/>
              </a:ext>
            </a:extLst>
          </p:cNvPr>
          <p:cNvSpPr txBox="1"/>
          <p:nvPr/>
        </p:nvSpPr>
        <p:spPr>
          <a:xfrm>
            <a:off x="1274596" y="3948688"/>
            <a:ext cx="1835534" cy="276999"/>
          </a:xfrm>
          <a:prstGeom prst="rect">
            <a:avLst/>
          </a:prstGeom>
          <a:noFill/>
        </p:spPr>
        <p:txBody>
          <a:bodyPr wrap="square">
            <a:spAutoFit/>
          </a:bodyPr>
          <a:lstStyle/>
          <a:p>
            <a:r>
              <a:rPr lang="en-US" sz="1200" b="0" i="0" u="none" strike="noStrike" dirty="0">
                <a:solidFill>
                  <a:srgbClr val="1F1F1F"/>
                </a:solidFill>
                <a:effectLst/>
                <a:latin typeface="Arial" panose="020B0604020202020204" pitchFamily="34" charset="0"/>
                <a:cs typeface="Arial" panose="020B0604020202020204" pitchFamily="34" charset="0"/>
              </a:rPr>
              <a:t>Rows: 736, Columns 8</a:t>
            </a:r>
            <a:endParaRPr lang="en-US" sz="1200" dirty="0">
              <a:latin typeface="Arial" panose="020B0604020202020204" pitchFamily="34" charset="0"/>
              <a:cs typeface="Arial" panose="020B0604020202020204" pitchFamily="34" charset="0"/>
            </a:endParaRPr>
          </a:p>
        </p:txBody>
      </p:sp>
      <p:sp>
        <p:nvSpPr>
          <p:cNvPr id="39" name="Down Arrow 38">
            <a:extLst>
              <a:ext uri="{FF2B5EF4-FFF2-40B4-BE49-F238E27FC236}">
                <a16:creationId xmlns:a16="http://schemas.microsoft.com/office/drawing/2014/main" id="{187D776C-D97D-2EA9-8217-532A91CBB73E}"/>
              </a:ext>
            </a:extLst>
          </p:cNvPr>
          <p:cNvSpPr/>
          <p:nvPr/>
        </p:nvSpPr>
        <p:spPr>
          <a:xfrm>
            <a:off x="5323134" y="1273078"/>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a:extLst>
              <a:ext uri="{FF2B5EF4-FFF2-40B4-BE49-F238E27FC236}">
                <a16:creationId xmlns:a16="http://schemas.microsoft.com/office/drawing/2014/main" id="{77CE758B-23EE-28E1-4087-547208180B45}"/>
              </a:ext>
            </a:extLst>
          </p:cNvPr>
          <p:cNvSpPr/>
          <p:nvPr/>
        </p:nvSpPr>
        <p:spPr>
          <a:xfrm>
            <a:off x="5325567" y="2365629"/>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own Arrow 40">
            <a:extLst>
              <a:ext uri="{FF2B5EF4-FFF2-40B4-BE49-F238E27FC236}">
                <a16:creationId xmlns:a16="http://schemas.microsoft.com/office/drawing/2014/main" id="{2F33C126-8E4C-381B-E54D-A5C3A6947176}"/>
              </a:ext>
            </a:extLst>
          </p:cNvPr>
          <p:cNvSpPr/>
          <p:nvPr/>
        </p:nvSpPr>
        <p:spPr>
          <a:xfrm>
            <a:off x="5323915" y="3463066"/>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own Arrow 41">
            <a:extLst>
              <a:ext uri="{FF2B5EF4-FFF2-40B4-BE49-F238E27FC236}">
                <a16:creationId xmlns:a16="http://schemas.microsoft.com/office/drawing/2014/main" id="{68D74382-36D6-9F6D-CA4A-597166834F3F}"/>
              </a:ext>
            </a:extLst>
          </p:cNvPr>
          <p:cNvSpPr/>
          <p:nvPr/>
        </p:nvSpPr>
        <p:spPr>
          <a:xfrm>
            <a:off x="5323132" y="4566574"/>
            <a:ext cx="214489" cy="313852"/>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own Arrow 42">
            <a:extLst>
              <a:ext uri="{FF2B5EF4-FFF2-40B4-BE49-F238E27FC236}">
                <a16:creationId xmlns:a16="http://schemas.microsoft.com/office/drawing/2014/main" id="{DC2540EB-F074-1E1D-1398-12277A1D76C7}"/>
              </a:ext>
            </a:extLst>
          </p:cNvPr>
          <p:cNvSpPr/>
          <p:nvPr/>
        </p:nvSpPr>
        <p:spPr>
          <a:xfrm>
            <a:off x="5323133" y="5729908"/>
            <a:ext cx="214489" cy="273547"/>
          </a:xfrm>
          <a:prstGeom prst="down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7" name="Picture 46" descr="A diagram of a company structure&#10;&#10;AI-generated content may be incorrect.">
            <a:extLst>
              <a:ext uri="{FF2B5EF4-FFF2-40B4-BE49-F238E27FC236}">
                <a16:creationId xmlns:a16="http://schemas.microsoft.com/office/drawing/2014/main" id="{0AAF448E-C398-E4F9-0BE9-4BF05D6494B0}"/>
              </a:ext>
            </a:extLst>
          </p:cNvPr>
          <p:cNvPicPr>
            <a:picLocks noChangeAspect="1"/>
          </p:cNvPicPr>
          <p:nvPr/>
        </p:nvPicPr>
        <p:blipFill>
          <a:blip r:embed="rId6"/>
          <a:stretch>
            <a:fillRect/>
          </a:stretch>
        </p:blipFill>
        <p:spPr>
          <a:xfrm>
            <a:off x="6857630" y="939438"/>
            <a:ext cx="3085453" cy="1503085"/>
          </a:xfrm>
          <a:prstGeom prst="rect">
            <a:avLst/>
          </a:prstGeom>
        </p:spPr>
      </p:pic>
      <p:pic>
        <p:nvPicPr>
          <p:cNvPr id="49" name="Picture 48" descr="A graph of a graph&#10;&#10;AI-generated content may be incorrect.">
            <a:extLst>
              <a:ext uri="{FF2B5EF4-FFF2-40B4-BE49-F238E27FC236}">
                <a16:creationId xmlns:a16="http://schemas.microsoft.com/office/drawing/2014/main" id="{EB289EEB-B86E-741D-341E-D95DD1D37C13}"/>
              </a:ext>
            </a:extLst>
          </p:cNvPr>
          <p:cNvPicPr>
            <a:picLocks noChangeAspect="1"/>
          </p:cNvPicPr>
          <p:nvPr/>
        </p:nvPicPr>
        <p:blipFill>
          <a:blip r:embed="rId7"/>
          <a:stretch>
            <a:fillRect/>
          </a:stretch>
        </p:blipFill>
        <p:spPr>
          <a:xfrm>
            <a:off x="6952916" y="2758978"/>
            <a:ext cx="2764043" cy="1408176"/>
          </a:xfrm>
          <a:prstGeom prst="rect">
            <a:avLst/>
          </a:prstGeom>
        </p:spPr>
      </p:pic>
      <p:pic>
        <p:nvPicPr>
          <p:cNvPr id="53" name="Picture 52" descr="A diagram of a network&#10;&#10;AI-generated content may be incorrect.">
            <a:extLst>
              <a:ext uri="{FF2B5EF4-FFF2-40B4-BE49-F238E27FC236}">
                <a16:creationId xmlns:a16="http://schemas.microsoft.com/office/drawing/2014/main" id="{17C6A5FE-9DBD-C6C4-A3A7-90897CE703E4}"/>
              </a:ext>
            </a:extLst>
          </p:cNvPr>
          <p:cNvPicPr>
            <a:picLocks noChangeAspect="1"/>
          </p:cNvPicPr>
          <p:nvPr/>
        </p:nvPicPr>
        <p:blipFill>
          <a:blip r:embed="rId8"/>
          <a:stretch>
            <a:fillRect/>
          </a:stretch>
        </p:blipFill>
        <p:spPr>
          <a:xfrm>
            <a:off x="9799465" y="947257"/>
            <a:ext cx="2277033" cy="1424124"/>
          </a:xfrm>
          <a:prstGeom prst="rect">
            <a:avLst/>
          </a:prstGeom>
        </p:spPr>
      </p:pic>
      <p:pic>
        <p:nvPicPr>
          <p:cNvPr id="59" name="Picture 58" descr="A graph showing different types of forest&#10;&#10;AI-generated content may be incorrect.">
            <a:extLst>
              <a:ext uri="{FF2B5EF4-FFF2-40B4-BE49-F238E27FC236}">
                <a16:creationId xmlns:a16="http://schemas.microsoft.com/office/drawing/2014/main" id="{367C832E-EA31-FBC6-0DF9-6B8545EEF5E5}"/>
              </a:ext>
            </a:extLst>
          </p:cNvPr>
          <p:cNvPicPr>
            <a:picLocks noChangeAspect="1"/>
          </p:cNvPicPr>
          <p:nvPr/>
        </p:nvPicPr>
        <p:blipFill>
          <a:blip r:embed="rId9"/>
          <a:stretch>
            <a:fillRect/>
          </a:stretch>
        </p:blipFill>
        <p:spPr>
          <a:xfrm>
            <a:off x="7161247" y="4183303"/>
            <a:ext cx="4610999" cy="2267558"/>
          </a:xfrm>
          <a:prstGeom prst="rect">
            <a:avLst/>
          </a:prstGeom>
        </p:spPr>
      </p:pic>
      <p:pic>
        <p:nvPicPr>
          <p:cNvPr id="62" name="Picture 61" descr="A graph with a red line&#10;&#10;AI-generated content may be incorrect.">
            <a:extLst>
              <a:ext uri="{FF2B5EF4-FFF2-40B4-BE49-F238E27FC236}">
                <a16:creationId xmlns:a16="http://schemas.microsoft.com/office/drawing/2014/main" id="{A2288373-DB2D-AAC0-1BE9-1604618A22D3}"/>
              </a:ext>
            </a:extLst>
          </p:cNvPr>
          <p:cNvPicPr>
            <a:picLocks noChangeAspect="1"/>
          </p:cNvPicPr>
          <p:nvPr/>
        </p:nvPicPr>
        <p:blipFill>
          <a:blip r:embed="rId10"/>
          <a:stretch>
            <a:fillRect/>
          </a:stretch>
        </p:blipFill>
        <p:spPr>
          <a:xfrm>
            <a:off x="9799465" y="2714440"/>
            <a:ext cx="2235877" cy="1394179"/>
          </a:xfrm>
          <a:prstGeom prst="rect">
            <a:avLst/>
          </a:prstGeom>
        </p:spPr>
      </p:pic>
      <p:sp>
        <p:nvSpPr>
          <p:cNvPr id="65" name="Rounded Rectangle 64">
            <a:extLst>
              <a:ext uri="{FF2B5EF4-FFF2-40B4-BE49-F238E27FC236}">
                <a16:creationId xmlns:a16="http://schemas.microsoft.com/office/drawing/2014/main" id="{6A7F4E39-6369-1164-BE14-4FEE6A7CEC01}"/>
              </a:ext>
            </a:extLst>
          </p:cNvPr>
          <p:cNvSpPr/>
          <p:nvPr/>
        </p:nvSpPr>
        <p:spPr>
          <a:xfrm>
            <a:off x="101919" y="603201"/>
            <a:ext cx="4217926" cy="2715418"/>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ounded Rectangle 71">
            <a:extLst>
              <a:ext uri="{FF2B5EF4-FFF2-40B4-BE49-F238E27FC236}">
                <a16:creationId xmlns:a16="http://schemas.microsoft.com/office/drawing/2014/main" id="{DBD8B1AC-0CEF-A025-1E8E-C4CCFCCD3E1F}"/>
              </a:ext>
            </a:extLst>
          </p:cNvPr>
          <p:cNvSpPr/>
          <p:nvPr/>
        </p:nvSpPr>
        <p:spPr>
          <a:xfrm>
            <a:off x="101919" y="3745167"/>
            <a:ext cx="4165938" cy="2540615"/>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ounded Rectangle 73">
            <a:extLst>
              <a:ext uri="{FF2B5EF4-FFF2-40B4-BE49-F238E27FC236}">
                <a16:creationId xmlns:a16="http://schemas.microsoft.com/office/drawing/2014/main" id="{14C368FB-48C9-56BB-370A-EC4220867F6F}"/>
              </a:ext>
            </a:extLst>
          </p:cNvPr>
          <p:cNvSpPr/>
          <p:nvPr/>
        </p:nvSpPr>
        <p:spPr>
          <a:xfrm>
            <a:off x="4465642" y="2469105"/>
            <a:ext cx="2184148" cy="222052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ounded Rectangle 74">
            <a:extLst>
              <a:ext uri="{FF2B5EF4-FFF2-40B4-BE49-F238E27FC236}">
                <a16:creationId xmlns:a16="http://schemas.microsoft.com/office/drawing/2014/main" id="{4601FC4A-ED97-C064-5C2B-CB05C00F68B6}"/>
              </a:ext>
            </a:extLst>
          </p:cNvPr>
          <p:cNvSpPr/>
          <p:nvPr/>
        </p:nvSpPr>
        <p:spPr>
          <a:xfrm>
            <a:off x="6848499" y="374099"/>
            <a:ext cx="5294195" cy="6343149"/>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ounded Rectangle 76">
            <a:extLst>
              <a:ext uri="{FF2B5EF4-FFF2-40B4-BE49-F238E27FC236}">
                <a16:creationId xmlns:a16="http://schemas.microsoft.com/office/drawing/2014/main" id="{FB7A85D5-06C1-BEE4-2C8B-C9F5DA73E9E8}"/>
              </a:ext>
            </a:extLst>
          </p:cNvPr>
          <p:cNvSpPr/>
          <p:nvPr/>
        </p:nvSpPr>
        <p:spPr>
          <a:xfrm>
            <a:off x="4496505" y="4813182"/>
            <a:ext cx="2153285" cy="1931424"/>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Curved Connector 78">
            <a:extLst>
              <a:ext uri="{FF2B5EF4-FFF2-40B4-BE49-F238E27FC236}">
                <a16:creationId xmlns:a16="http://schemas.microsoft.com/office/drawing/2014/main" id="{C5B6655B-7DC8-728B-CE2B-253DA40EFC5C}"/>
              </a:ext>
            </a:extLst>
          </p:cNvPr>
          <p:cNvCxnSpPr>
            <a:cxnSpLocks/>
          </p:cNvCxnSpPr>
          <p:nvPr/>
        </p:nvCxnSpPr>
        <p:spPr>
          <a:xfrm rot="10800000">
            <a:off x="4060704" y="1546858"/>
            <a:ext cx="679381" cy="471620"/>
          </a:xfrm>
          <a:prstGeom prst="curvedConnector3">
            <a:avLst/>
          </a:prstGeom>
          <a:ln>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1" name="Curved Connector 80">
            <a:extLst>
              <a:ext uri="{FF2B5EF4-FFF2-40B4-BE49-F238E27FC236}">
                <a16:creationId xmlns:a16="http://schemas.microsoft.com/office/drawing/2014/main" id="{425CF272-54BA-FC9B-F1C2-673AFB16C64F}"/>
              </a:ext>
            </a:extLst>
          </p:cNvPr>
          <p:cNvCxnSpPr>
            <a:cxnSpLocks/>
          </p:cNvCxnSpPr>
          <p:nvPr/>
        </p:nvCxnSpPr>
        <p:spPr>
          <a:xfrm rot="10800000" flipV="1">
            <a:off x="3713780" y="3498201"/>
            <a:ext cx="749332" cy="504501"/>
          </a:xfrm>
          <a:prstGeom prst="curvedConnector3">
            <a:avLst>
              <a:gd name="adj1" fmla="val 50000"/>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7" name="Curved Connector 96">
            <a:extLst>
              <a:ext uri="{FF2B5EF4-FFF2-40B4-BE49-F238E27FC236}">
                <a16:creationId xmlns:a16="http://schemas.microsoft.com/office/drawing/2014/main" id="{70409243-D201-81FC-FD82-92BAE710547E}"/>
              </a:ext>
            </a:extLst>
          </p:cNvPr>
          <p:cNvCxnSpPr>
            <a:cxnSpLocks/>
          </p:cNvCxnSpPr>
          <p:nvPr/>
        </p:nvCxnSpPr>
        <p:spPr>
          <a:xfrm rot="5400000" flipH="1" flipV="1">
            <a:off x="6461837" y="4978035"/>
            <a:ext cx="877721" cy="464710"/>
          </a:xfrm>
          <a:prstGeom prst="curvedConnector3">
            <a:avLst>
              <a:gd name="adj1" fmla="val 50000"/>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3" name="Slide Number Placeholder 102">
            <a:extLst>
              <a:ext uri="{FF2B5EF4-FFF2-40B4-BE49-F238E27FC236}">
                <a16:creationId xmlns:a16="http://schemas.microsoft.com/office/drawing/2014/main" id="{622946C1-9666-D4BF-89E3-A61502A4B9B4}"/>
              </a:ext>
            </a:extLst>
          </p:cNvPr>
          <p:cNvSpPr>
            <a:spLocks noGrp="1"/>
          </p:cNvSpPr>
          <p:nvPr>
            <p:ph type="sldNum" sz="quarter" idx="12"/>
          </p:nvPr>
        </p:nvSpPr>
        <p:spPr/>
        <p:txBody>
          <a:bodyPr/>
          <a:lstStyle/>
          <a:p>
            <a:fld id="{83863B2D-D332-084B-BF65-F0D9A30319D9}" type="slidenum">
              <a:rPr lang="en-US" smtClean="0"/>
              <a:t>4</a:t>
            </a:fld>
            <a:endParaRPr lang="en-US"/>
          </a:p>
        </p:txBody>
      </p:sp>
      <p:sp>
        <p:nvSpPr>
          <p:cNvPr id="2" name="TextBox 1">
            <a:extLst>
              <a:ext uri="{FF2B5EF4-FFF2-40B4-BE49-F238E27FC236}">
                <a16:creationId xmlns:a16="http://schemas.microsoft.com/office/drawing/2014/main" id="{61A80CD4-5F93-56F1-9276-03285C21F00A}"/>
              </a:ext>
            </a:extLst>
          </p:cNvPr>
          <p:cNvSpPr txBox="1"/>
          <p:nvPr/>
        </p:nvSpPr>
        <p:spPr>
          <a:xfrm>
            <a:off x="4131241" y="7658"/>
            <a:ext cx="2774822"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Modeling Workflow</a:t>
            </a:r>
          </a:p>
        </p:txBody>
      </p:sp>
    </p:spTree>
    <p:extLst>
      <p:ext uri="{BB962C8B-B14F-4D97-AF65-F5344CB8AC3E}">
        <p14:creationId xmlns:p14="http://schemas.microsoft.com/office/powerpoint/2010/main" val="1482806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878C222-B3FD-78F5-EEE9-61EAA5EF5799}"/>
              </a:ext>
            </a:extLst>
          </p:cNvPr>
          <p:cNvSpPr txBox="1"/>
          <p:nvPr/>
        </p:nvSpPr>
        <p:spPr>
          <a:xfrm>
            <a:off x="156384" y="459564"/>
            <a:ext cx="12480116" cy="1477328"/>
          </a:xfrm>
          <a:prstGeom prst="rect">
            <a:avLst/>
          </a:prstGeom>
          <a:noFill/>
        </p:spPr>
        <p:txBody>
          <a:bodyPr wrap="square">
            <a:spAutoFit/>
          </a:bodyPr>
          <a:lstStyle/>
          <a:p>
            <a:pPr algn="l">
              <a:buNone/>
            </a:pPr>
            <a:r>
              <a:rPr lang="en-US" b="1" i="0" u="none" strike="noStrike" dirty="0">
                <a:solidFill>
                  <a:srgbClr val="000000"/>
                </a:solidFill>
                <a:effectLst/>
                <a:latin typeface="Arial" panose="020B0604020202020204" pitchFamily="34" charset="0"/>
                <a:cs typeface="Arial" panose="020B0604020202020204" pitchFamily="34" charset="0"/>
              </a:rPr>
              <a:t>Random Forest Regression</a:t>
            </a:r>
            <a:r>
              <a:rPr lang="en-US" b="0" i="0" u="none" strike="noStrike" dirty="0">
                <a:solidFill>
                  <a:srgbClr val="000000"/>
                </a:solidFill>
                <a:effectLst/>
                <a:latin typeface="Arial" panose="020B0604020202020204" pitchFamily="34" charset="0"/>
                <a:cs typeface="Arial" panose="020B0604020202020204" pitchFamily="34" charset="0"/>
              </a:rPr>
              <a:t> is an </a:t>
            </a:r>
            <a:r>
              <a:rPr lang="en-US" b="1" i="0" u="none" strike="noStrike" dirty="0">
                <a:solidFill>
                  <a:srgbClr val="000000"/>
                </a:solidFill>
                <a:effectLst/>
                <a:latin typeface="Arial" panose="020B0604020202020204" pitchFamily="34" charset="0"/>
                <a:cs typeface="Arial" panose="020B0604020202020204" pitchFamily="34" charset="0"/>
              </a:rPr>
              <a:t>ensemble learning method</a:t>
            </a:r>
            <a:r>
              <a:rPr lang="en-US" b="0" i="0" u="none" strike="noStrike" dirty="0">
                <a:solidFill>
                  <a:srgbClr val="000000"/>
                </a:solidFill>
                <a:effectLst/>
                <a:latin typeface="Arial" panose="020B0604020202020204" pitchFamily="34" charset="0"/>
                <a:cs typeface="Arial" panose="020B0604020202020204" pitchFamily="34" charset="0"/>
              </a:rPr>
              <a:t> that builds multiple decision trees and averages their predictions for </a:t>
            </a:r>
            <a:r>
              <a:rPr lang="en-US" b="1" i="0" u="none" strike="noStrike" dirty="0">
                <a:solidFill>
                  <a:srgbClr val="000000"/>
                </a:solidFill>
                <a:effectLst/>
                <a:latin typeface="Arial" panose="020B0604020202020204" pitchFamily="34" charset="0"/>
                <a:cs typeface="Arial" panose="020B0604020202020204" pitchFamily="34" charset="0"/>
              </a:rPr>
              <a:t>numerical (continuous) outputs</a:t>
            </a:r>
            <a:r>
              <a:rPr lang="en-US" b="0" i="0" u="none" strike="noStrike" dirty="0">
                <a:solidFill>
                  <a:srgbClr val="000000"/>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u="none" strike="noStrike" dirty="0">
                <a:solidFill>
                  <a:srgbClr val="000000"/>
                </a:solidFill>
                <a:effectLst/>
                <a:latin typeface="Arial" panose="020B0604020202020204" pitchFamily="34" charset="0"/>
                <a:cs typeface="Arial" panose="020B0604020202020204" pitchFamily="34" charset="0"/>
              </a:rPr>
              <a:t>It belongs to </a:t>
            </a:r>
            <a:r>
              <a:rPr lang="en-US" b="1" i="0" u="none" strike="noStrike" dirty="0">
                <a:solidFill>
                  <a:srgbClr val="000000"/>
                </a:solidFill>
                <a:effectLst/>
                <a:latin typeface="Arial" panose="020B0604020202020204" pitchFamily="34" charset="0"/>
                <a:cs typeface="Arial" panose="020B0604020202020204" pitchFamily="34" charset="0"/>
              </a:rPr>
              <a:t>bagging methods</a:t>
            </a:r>
            <a:r>
              <a:rPr lang="en-US" b="0" i="0" u="none" strike="noStrike" dirty="0">
                <a:solidFill>
                  <a:srgbClr val="000000"/>
                </a:solidFill>
                <a:effectLst/>
                <a:latin typeface="Arial" panose="020B0604020202020204" pitchFamily="34" charset="0"/>
                <a:cs typeface="Arial" panose="020B0604020202020204" pitchFamily="34" charset="0"/>
              </a:rPr>
              <a:t> (Bootstrap Aggregation).</a:t>
            </a:r>
          </a:p>
          <a:p>
            <a:pPr algn="l">
              <a:buFont typeface="Arial" panose="020B0604020202020204" pitchFamily="34" charset="0"/>
              <a:buChar char="•"/>
            </a:pPr>
            <a:r>
              <a:rPr lang="en-US" b="0" i="0" u="none" strike="noStrike" dirty="0">
                <a:solidFill>
                  <a:srgbClr val="000000"/>
                </a:solidFill>
                <a:effectLst/>
                <a:latin typeface="Arial" panose="020B0604020202020204" pitchFamily="34" charset="0"/>
                <a:cs typeface="Arial" panose="020B0604020202020204" pitchFamily="34" charset="0"/>
              </a:rPr>
              <a:t>Each tree sees only a </a:t>
            </a:r>
            <a:r>
              <a:rPr lang="en-US" b="1" i="0" u="none" strike="noStrike" dirty="0">
                <a:solidFill>
                  <a:srgbClr val="000000"/>
                </a:solidFill>
                <a:effectLst/>
                <a:latin typeface="Arial" panose="020B0604020202020204" pitchFamily="34" charset="0"/>
                <a:cs typeface="Arial" panose="020B0604020202020204" pitchFamily="34" charset="0"/>
              </a:rPr>
              <a:t>random subset of the data</a:t>
            </a:r>
            <a:r>
              <a:rPr lang="en-US" b="0" i="0" u="none" strike="noStrike" dirty="0">
                <a:solidFill>
                  <a:srgbClr val="000000"/>
                </a:solidFill>
                <a:effectLst/>
                <a:latin typeface="Arial" panose="020B0604020202020204" pitchFamily="34" charset="0"/>
                <a:cs typeface="Arial" panose="020B0604020202020204" pitchFamily="34" charset="0"/>
              </a:rPr>
              <a:t> and a </a:t>
            </a:r>
            <a:r>
              <a:rPr lang="en-US" b="1" i="0" u="none" strike="noStrike" dirty="0">
                <a:solidFill>
                  <a:srgbClr val="000000"/>
                </a:solidFill>
                <a:effectLst/>
                <a:latin typeface="Arial" panose="020B0604020202020204" pitchFamily="34" charset="0"/>
                <a:cs typeface="Arial" panose="020B0604020202020204" pitchFamily="34" charset="0"/>
              </a:rPr>
              <a:t>random subset of the features</a:t>
            </a:r>
            <a:r>
              <a:rPr lang="en-US" b="0" i="0" u="none" strike="noStrike" dirty="0">
                <a:solidFill>
                  <a:srgbClr val="000000"/>
                </a:solidFill>
                <a:effectLst/>
                <a:latin typeface="Arial" panose="020B0604020202020204" pitchFamily="34" charset="0"/>
                <a:cs typeface="Arial" panose="020B0604020202020204" pitchFamily="34" charset="0"/>
              </a:rPr>
              <a:t>.</a:t>
            </a:r>
          </a:p>
          <a:p>
            <a:pPr algn="l">
              <a:buFont typeface="Arial" panose="020B0604020202020204" pitchFamily="34" charset="0"/>
              <a:buChar char="•"/>
            </a:pPr>
            <a:r>
              <a:rPr lang="en-US" b="0" i="0" u="none" strike="noStrike" dirty="0">
                <a:solidFill>
                  <a:srgbClr val="000000"/>
                </a:solidFill>
                <a:effectLst/>
                <a:latin typeface="Arial" panose="020B0604020202020204" pitchFamily="34" charset="0"/>
                <a:cs typeface="Arial" panose="020B0604020202020204" pitchFamily="34" charset="0"/>
              </a:rPr>
              <a:t>Predictions from all trees are </a:t>
            </a:r>
            <a:r>
              <a:rPr lang="en-US" b="1" i="0" u="none" strike="noStrike" dirty="0">
                <a:solidFill>
                  <a:srgbClr val="000000"/>
                </a:solidFill>
                <a:effectLst/>
                <a:latin typeface="Arial" panose="020B0604020202020204" pitchFamily="34" charset="0"/>
                <a:cs typeface="Arial" panose="020B0604020202020204" pitchFamily="34" charset="0"/>
              </a:rPr>
              <a:t>averaged</a:t>
            </a:r>
            <a:r>
              <a:rPr lang="en-US" b="0" i="0" u="none" strike="noStrike" dirty="0">
                <a:solidFill>
                  <a:srgbClr val="000000"/>
                </a:solidFill>
                <a:effectLst/>
                <a:latin typeface="Arial" panose="020B0604020202020204" pitchFamily="34" charset="0"/>
                <a:cs typeface="Arial" panose="020B0604020202020204" pitchFamily="34" charset="0"/>
              </a:rPr>
              <a:t> (regression) or </a:t>
            </a:r>
            <a:r>
              <a:rPr lang="en-US" b="1" i="0" u="none" strike="noStrike" dirty="0">
                <a:solidFill>
                  <a:srgbClr val="000000"/>
                </a:solidFill>
                <a:effectLst/>
                <a:latin typeface="Arial" panose="020B0604020202020204" pitchFamily="34" charset="0"/>
                <a:cs typeface="Arial" panose="020B0604020202020204" pitchFamily="34" charset="0"/>
              </a:rPr>
              <a:t>voted</a:t>
            </a:r>
            <a:r>
              <a:rPr lang="en-US" b="0" i="0" u="none" strike="noStrike" dirty="0">
                <a:solidFill>
                  <a:srgbClr val="000000"/>
                </a:solidFill>
                <a:effectLst/>
                <a:latin typeface="Arial" panose="020B0604020202020204" pitchFamily="34" charset="0"/>
                <a:cs typeface="Arial" panose="020B0604020202020204" pitchFamily="34" charset="0"/>
              </a:rPr>
              <a:t> (classification).</a:t>
            </a:r>
          </a:p>
        </p:txBody>
      </p:sp>
      <p:sp>
        <p:nvSpPr>
          <p:cNvPr id="8" name="TextBox 7">
            <a:extLst>
              <a:ext uri="{FF2B5EF4-FFF2-40B4-BE49-F238E27FC236}">
                <a16:creationId xmlns:a16="http://schemas.microsoft.com/office/drawing/2014/main" id="{7CBAF0F7-D377-7DBF-1A5E-AFADA1508ECC}"/>
              </a:ext>
            </a:extLst>
          </p:cNvPr>
          <p:cNvSpPr txBox="1"/>
          <p:nvPr/>
        </p:nvSpPr>
        <p:spPr>
          <a:xfrm>
            <a:off x="156384" y="2120040"/>
            <a:ext cx="12175315" cy="4524315"/>
          </a:xfrm>
          <a:prstGeom prst="rect">
            <a:avLst/>
          </a:prstGeom>
          <a:noFill/>
        </p:spPr>
        <p:txBody>
          <a:bodyPr wrap="square">
            <a:spAutoFit/>
          </a:bodyPr>
          <a:lstStyle/>
          <a:p>
            <a:pPr algn="l">
              <a:buNone/>
            </a:pPr>
            <a:r>
              <a:rPr lang="en-US" b="0" i="0" u="none" strike="noStrike" dirty="0">
                <a:solidFill>
                  <a:srgbClr val="000000"/>
                </a:solidFill>
                <a:effectLst/>
                <a:latin typeface="Arial" panose="020B0604020202020204" pitchFamily="34" charset="0"/>
                <a:cs typeface="Arial" panose="020B0604020202020204" pitchFamily="34" charset="0"/>
              </a:rPr>
              <a:t>Let’s break it down step by step:</a:t>
            </a:r>
          </a:p>
          <a:p>
            <a:pPr algn="l">
              <a:buFont typeface="+mj-lt"/>
              <a:buAutoNum type="arabicPeriod"/>
            </a:pPr>
            <a:r>
              <a:rPr lang="en-US" b="1" i="0" u="none" strike="noStrike" dirty="0">
                <a:solidFill>
                  <a:srgbClr val="000000"/>
                </a:solidFill>
                <a:effectLst/>
                <a:latin typeface="Arial" panose="020B0604020202020204" pitchFamily="34" charset="0"/>
                <a:cs typeface="Arial" panose="020B0604020202020204" pitchFamily="34" charset="0"/>
              </a:rPr>
              <a:t>Input</a:t>
            </a:r>
            <a:r>
              <a:rPr lang="en-US" b="0" i="0" u="none" strike="noStrike" dirty="0">
                <a:solidFill>
                  <a:srgbClr val="000000"/>
                </a:solidFill>
                <a:effectLst/>
                <a:latin typeface="Arial" panose="020B0604020202020204" pitchFamily="34" charset="0"/>
                <a:cs typeface="Arial" panose="020B0604020202020204" pitchFamily="34" charset="0"/>
              </a:rPr>
              <a:t>: A dataset of features X (e.g. surface measurements) and a continuous target y (e.g. dissolved oxygen). Split into training and testing datasets.</a:t>
            </a:r>
          </a:p>
          <a:p>
            <a:pPr algn="l">
              <a:buFont typeface="+mj-lt"/>
              <a:buAutoNum type="arabicPeriod"/>
            </a:pPr>
            <a:r>
              <a:rPr lang="en-US" b="1" i="0" u="none" strike="noStrike" dirty="0">
                <a:solidFill>
                  <a:srgbClr val="000000"/>
                </a:solidFill>
                <a:effectLst/>
                <a:latin typeface="Arial" panose="020B0604020202020204" pitchFamily="34" charset="0"/>
                <a:cs typeface="Arial" panose="020B0604020202020204" pitchFamily="34" charset="0"/>
              </a:rPr>
              <a:t>Bootstrap Sampling</a:t>
            </a:r>
            <a:r>
              <a:rPr lang="en-US" b="0" i="0" u="none" strike="noStrike" dirty="0">
                <a:solidFill>
                  <a:srgbClr val="000000"/>
                </a:solidFill>
                <a:effectLst/>
                <a:latin typeface="Arial" panose="020B0604020202020204" pitchFamily="34" charset="0"/>
                <a:cs typeface="Arial" panose="020B0604020202020204" pitchFamily="34" charset="0"/>
              </a:rPr>
              <a:t>:</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Create multiple subsets of the training data </a:t>
            </a:r>
            <a:r>
              <a:rPr lang="en-US" b="1" i="0" u="none" strike="noStrike" dirty="0">
                <a:solidFill>
                  <a:srgbClr val="000000"/>
                </a:solidFill>
                <a:effectLst/>
                <a:latin typeface="Arial" panose="020B0604020202020204" pitchFamily="34" charset="0"/>
                <a:cs typeface="Arial" panose="020B0604020202020204" pitchFamily="34" charset="0"/>
              </a:rPr>
              <a:t>with replacement</a:t>
            </a:r>
            <a:r>
              <a:rPr lang="en-US" b="0" i="0" u="none" strike="noStrike" dirty="0">
                <a:solidFill>
                  <a:srgbClr val="000000"/>
                </a:solidFill>
                <a:effectLst/>
                <a:latin typeface="Arial" panose="020B0604020202020204" pitchFamily="34" charset="0"/>
                <a:cs typeface="Arial" panose="020B0604020202020204" pitchFamily="34" charset="0"/>
              </a:rPr>
              <a:t>.</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Each subset is used to train one decision tree.</a:t>
            </a:r>
          </a:p>
          <a:p>
            <a:pPr algn="l">
              <a:buFont typeface="+mj-lt"/>
              <a:buAutoNum type="arabicPeriod"/>
            </a:pPr>
            <a:r>
              <a:rPr lang="en-US" b="1" i="0" u="none" strike="noStrike" dirty="0">
                <a:solidFill>
                  <a:srgbClr val="000000"/>
                </a:solidFill>
                <a:effectLst/>
                <a:latin typeface="Arial" panose="020B0604020202020204" pitchFamily="34" charset="0"/>
                <a:cs typeface="Arial" panose="020B0604020202020204" pitchFamily="34" charset="0"/>
              </a:rPr>
              <a:t>Feature Randomness</a:t>
            </a:r>
            <a:r>
              <a:rPr lang="en-US" b="0" i="0" u="none" strike="noStrike" dirty="0">
                <a:solidFill>
                  <a:srgbClr val="000000"/>
                </a:solidFill>
                <a:effectLst/>
                <a:latin typeface="Arial" panose="020B0604020202020204" pitchFamily="34" charset="0"/>
                <a:cs typeface="Arial" panose="020B0604020202020204" pitchFamily="34" charset="0"/>
              </a:rPr>
              <a:t>:</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At each split in a tree, only a </a:t>
            </a:r>
            <a:r>
              <a:rPr lang="en-US" b="1" i="0" u="none" strike="noStrike" dirty="0">
                <a:solidFill>
                  <a:srgbClr val="000000"/>
                </a:solidFill>
                <a:effectLst/>
                <a:latin typeface="Arial" panose="020B0604020202020204" pitchFamily="34" charset="0"/>
                <a:cs typeface="Arial" panose="020B0604020202020204" pitchFamily="34" charset="0"/>
              </a:rPr>
              <a:t>random subset of features</a:t>
            </a:r>
            <a:r>
              <a:rPr lang="en-US" b="0" i="0" u="none" strike="noStrike" dirty="0">
                <a:solidFill>
                  <a:srgbClr val="000000"/>
                </a:solidFill>
                <a:effectLst/>
                <a:latin typeface="Arial" panose="020B0604020202020204" pitchFamily="34" charset="0"/>
                <a:cs typeface="Arial" panose="020B0604020202020204" pitchFamily="34" charset="0"/>
              </a:rPr>
              <a:t> is considered.</a:t>
            </a:r>
            <a:endParaRPr lang="en-US" b="1" i="0" u="none" strike="noStrike" dirty="0">
              <a:solidFill>
                <a:srgbClr val="000000"/>
              </a:solidFill>
              <a:effectLst/>
              <a:latin typeface="Arial" panose="020B0604020202020204" pitchFamily="34" charset="0"/>
              <a:cs typeface="Arial" panose="020B0604020202020204" pitchFamily="34" charset="0"/>
            </a:endParaRPr>
          </a:p>
          <a:p>
            <a:pPr algn="l">
              <a:buFont typeface="+mj-lt"/>
              <a:buAutoNum type="arabicPeriod"/>
            </a:pPr>
            <a:r>
              <a:rPr lang="en-US" b="1" i="0" u="none" strike="noStrike" dirty="0">
                <a:solidFill>
                  <a:srgbClr val="000000"/>
                </a:solidFill>
                <a:effectLst/>
                <a:latin typeface="Arial" panose="020B0604020202020204" pitchFamily="34" charset="0"/>
                <a:cs typeface="Arial" panose="020B0604020202020204" pitchFamily="34" charset="0"/>
              </a:rPr>
              <a:t>Tree Construction</a:t>
            </a:r>
            <a:r>
              <a:rPr lang="en-US" b="0" i="0" u="none" strike="noStrike" dirty="0">
                <a:solidFill>
                  <a:srgbClr val="000000"/>
                </a:solidFill>
                <a:effectLst/>
                <a:latin typeface="Arial" panose="020B0604020202020204" pitchFamily="34" charset="0"/>
                <a:cs typeface="Arial" panose="020B0604020202020204" pitchFamily="34" charset="0"/>
              </a:rPr>
              <a:t>:</a:t>
            </a:r>
          </a:p>
          <a:p>
            <a:r>
              <a:rPr lang="en-US" b="0" i="0" u="none" strike="noStrike" dirty="0">
                <a:solidFill>
                  <a:srgbClr val="000000"/>
                </a:solidFill>
                <a:effectLst/>
                <a:latin typeface="Arial" panose="020B0604020202020204" pitchFamily="34" charset="0"/>
                <a:cs typeface="Arial" panose="020B0604020202020204" pitchFamily="34" charset="0"/>
              </a:rPr>
              <a:t>       1.  </a:t>
            </a:r>
            <a:r>
              <a:rPr lang="en-US" dirty="0">
                <a:solidFill>
                  <a:srgbClr val="000000"/>
                </a:solidFill>
                <a:latin typeface="Arial" panose="020B0604020202020204" pitchFamily="34" charset="0"/>
                <a:cs typeface="Arial" panose="020B0604020202020204" pitchFamily="34" charset="0"/>
              </a:rPr>
              <a:t>At every node in the tree: For each candidate split, calculate the </a:t>
            </a:r>
            <a:r>
              <a:rPr lang="en-US" b="1" dirty="0">
                <a:solidFill>
                  <a:srgbClr val="000000"/>
                </a:solidFill>
                <a:latin typeface="Arial" panose="020B0604020202020204" pitchFamily="34" charset="0"/>
                <a:cs typeface="Arial" panose="020B0604020202020204" pitchFamily="34" charset="0"/>
              </a:rPr>
              <a:t>Mean Squared Error (MSE) </a:t>
            </a:r>
            <a:r>
              <a:rPr lang="en-US" dirty="0">
                <a:solidFill>
                  <a:srgbClr val="000000"/>
                </a:solidFill>
                <a:latin typeface="Arial" panose="020B0604020202020204" pitchFamily="34" charset="0"/>
                <a:cs typeface="Arial" panose="020B0604020202020204" pitchFamily="34" charset="0"/>
              </a:rPr>
              <a:t>2.  Choose the feature and threshold that result in the </a:t>
            </a:r>
            <a:r>
              <a:rPr lang="en-US" b="1" dirty="0">
                <a:solidFill>
                  <a:srgbClr val="000000"/>
                </a:solidFill>
                <a:latin typeface="Arial" panose="020B0604020202020204" pitchFamily="34" charset="0"/>
                <a:cs typeface="Arial" panose="020B0604020202020204" pitchFamily="34" charset="0"/>
              </a:rPr>
              <a:t>lowest MSE. 3.  </a:t>
            </a:r>
            <a:r>
              <a:rPr lang="en-US" dirty="0">
                <a:solidFill>
                  <a:srgbClr val="000000"/>
                </a:solidFill>
                <a:latin typeface="Arial" panose="020B0604020202020204" pitchFamily="34" charset="0"/>
                <a:cs typeface="Arial" panose="020B0604020202020204" pitchFamily="34" charset="0"/>
              </a:rPr>
              <a:t>Split the node and repeat the process recursively.</a:t>
            </a:r>
          </a:p>
          <a:p>
            <a:r>
              <a:rPr lang="en-US" dirty="0">
                <a:solidFill>
                  <a:srgbClr val="000000"/>
                </a:solidFill>
                <a:latin typeface="Arial" panose="020B0604020202020204" pitchFamily="34" charset="0"/>
                <a:cs typeface="Arial" panose="020B0604020202020204" pitchFamily="34" charset="0"/>
              </a:rPr>
              <a:t>This is what builds the </a:t>
            </a:r>
            <a:r>
              <a:rPr lang="en-US" b="1" dirty="0">
                <a:solidFill>
                  <a:srgbClr val="000000"/>
                </a:solidFill>
                <a:latin typeface="Arial" panose="020B0604020202020204" pitchFamily="34" charset="0"/>
                <a:cs typeface="Arial" panose="020B0604020202020204" pitchFamily="34" charset="0"/>
              </a:rPr>
              <a:t>structure</a:t>
            </a:r>
            <a:r>
              <a:rPr lang="en-US" dirty="0">
                <a:solidFill>
                  <a:srgbClr val="000000"/>
                </a:solidFill>
                <a:latin typeface="Arial" panose="020B0604020202020204" pitchFamily="34" charset="0"/>
                <a:cs typeface="Arial" panose="020B0604020202020204" pitchFamily="34" charset="0"/>
              </a:rPr>
              <a:t> of each decision tree based on minimizing prediction error. </a:t>
            </a:r>
            <a:r>
              <a:rPr lang="en-US" b="0" i="0" u="none" strike="noStrike" dirty="0">
                <a:solidFill>
                  <a:srgbClr val="000000"/>
                </a:solidFill>
                <a:effectLst/>
                <a:latin typeface="Arial" panose="020B0604020202020204" pitchFamily="34" charset="0"/>
                <a:cs typeface="Arial" panose="020B0604020202020204" pitchFamily="34" charset="0"/>
              </a:rPr>
              <a:t>It learns a different view of the data due to randomness in data and features.</a:t>
            </a:r>
          </a:p>
          <a:p>
            <a:pPr algn="l"/>
            <a:r>
              <a:rPr lang="en-US" b="1" i="0" u="none" strike="noStrike" dirty="0">
                <a:solidFill>
                  <a:srgbClr val="000000"/>
                </a:solidFill>
                <a:effectLst/>
                <a:latin typeface="Arial" panose="020B0604020202020204" pitchFamily="34" charset="0"/>
                <a:cs typeface="Arial" panose="020B0604020202020204" pitchFamily="34" charset="0"/>
              </a:rPr>
              <a:t>5. Prediction</a:t>
            </a:r>
            <a:r>
              <a:rPr lang="en-US" b="0" i="0" u="none" strike="noStrike" dirty="0">
                <a:solidFill>
                  <a:srgbClr val="000000"/>
                </a:solidFill>
                <a:effectLst/>
                <a:latin typeface="Arial" panose="020B0604020202020204" pitchFamily="34" charset="0"/>
                <a:cs typeface="Arial" panose="020B0604020202020204" pitchFamily="34" charset="0"/>
              </a:rPr>
              <a:t>:</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For a new sample, each tree makes a prediction.</a:t>
            </a:r>
          </a:p>
          <a:p>
            <a:pPr marL="742950" lvl="1" indent="-285750" algn="l">
              <a:buFont typeface="+mj-lt"/>
              <a:buAutoNum type="arabicPeriod"/>
            </a:pPr>
            <a:r>
              <a:rPr lang="en-US" b="0" i="0" u="none" strike="noStrike" dirty="0">
                <a:solidFill>
                  <a:srgbClr val="000000"/>
                </a:solidFill>
                <a:effectLst/>
                <a:latin typeface="Arial" panose="020B0604020202020204" pitchFamily="34" charset="0"/>
                <a:cs typeface="Arial" panose="020B0604020202020204" pitchFamily="34" charset="0"/>
              </a:rPr>
              <a:t>The final prediction is the </a:t>
            </a:r>
            <a:r>
              <a:rPr lang="en-US" b="1" i="0" u="none" strike="noStrike" dirty="0">
                <a:solidFill>
                  <a:srgbClr val="000000"/>
                </a:solidFill>
                <a:effectLst/>
                <a:latin typeface="Arial" panose="020B0604020202020204" pitchFamily="34" charset="0"/>
                <a:cs typeface="Arial" panose="020B0604020202020204" pitchFamily="34" charset="0"/>
              </a:rPr>
              <a:t>average</a:t>
            </a:r>
            <a:r>
              <a:rPr lang="en-US" b="0" i="0" u="none" strike="noStrike" dirty="0">
                <a:solidFill>
                  <a:srgbClr val="000000"/>
                </a:solidFill>
                <a:effectLst/>
                <a:latin typeface="Arial" panose="020B0604020202020204" pitchFamily="34" charset="0"/>
                <a:cs typeface="Arial" panose="020B0604020202020204" pitchFamily="34" charset="0"/>
              </a:rPr>
              <a:t> of all tree predictions.</a:t>
            </a:r>
          </a:p>
        </p:txBody>
      </p:sp>
      <p:pic>
        <p:nvPicPr>
          <p:cNvPr id="9" name="Picture 8" descr="A diagram of a tree&#10;&#10;AI-generated content may be incorrect.">
            <a:extLst>
              <a:ext uri="{FF2B5EF4-FFF2-40B4-BE49-F238E27FC236}">
                <a16:creationId xmlns:a16="http://schemas.microsoft.com/office/drawing/2014/main" id="{63921104-1125-E63A-CF7D-1AE2A8B826C2}"/>
              </a:ext>
            </a:extLst>
          </p:cNvPr>
          <p:cNvPicPr>
            <a:picLocks noChangeAspect="1"/>
          </p:cNvPicPr>
          <p:nvPr/>
        </p:nvPicPr>
        <p:blipFill>
          <a:blip r:embed="rId2"/>
          <a:stretch>
            <a:fillRect/>
          </a:stretch>
        </p:blipFill>
        <p:spPr>
          <a:xfrm>
            <a:off x="8899720" y="2750059"/>
            <a:ext cx="2602698" cy="1790317"/>
          </a:xfrm>
          <a:prstGeom prst="rect">
            <a:avLst/>
          </a:prstGeom>
        </p:spPr>
      </p:pic>
      <p:sp>
        <p:nvSpPr>
          <p:cNvPr id="10" name="Slide Number Placeholder 9">
            <a:extLst>
              <a:ext uri="{FF2B5EF4-FFF2-40B4-BE49-F238E27FC236}">
                <a16:creationId xmlns:a16="http://schemas.microsoft.com/office/drawing/2014/main" id="{60B96BC1-E1C0-8E99-110F-65D31ED81398}"/>
              </a:ext>
            </a:extLst>
          </p:cNvPr>
          <p:cNvSpPr>
            <a:spLocks noGrp="1"/>
          </p:cNvSpPr>
          <p:nvPr>
            <p:ph type="sldNum" sz="quarter" idx="12"/>
          </p:nvPr>
        </p:nvSpPr>
        <p:spPr/>
        <p:txBody>
          <a:bodyPr/>
          <a:lstStyle/>
          <a:p>
            <a:fld id="{83863B2D-D332-084B-BF65-F0D9A30319D9}" type="slidenum">
              <a:rPr lang="en-US" smtClean="0"/>
              <a:t>5</a:t>
            </a:fld>
            <a:endParaRPr lang="en-US"/>
          </a:p>
        </p:txBody>
      </p:sp>
      <p:sp>
        <p:nvSpPr>
          <p:cNvPr id="3" name="TextBox 2">
            <a:extLst>
              <a:ext uri="{FF2B5EF4-FFF2-40B4-BE49-F238E27FC236}">
                <a16:creationId xmlns:a16="http://schemas.microsoft.com/office/drawing/2014/main" id="{DAF5C0C6-2A66-1607-3617-DCD564C7284F}"/>
              </a:ext>
            </a:extLst>
          </p:cNvPr>
          <p:cNvSpPr txBox="1"/>
          <p:nvPr/>
        </p:nvSpPr>
        <p:spPr>
          <a:xfrm>
            <a:off x="4045280" y="136525"/>
            <a:ext cx="4702324" cy="369332"/>
          </a:xfrm>
          <a:prstGeom prst="rect">
            <a:avLst/>
          </a:prstGeom>
          <a:noFill/>
        </p:spPr>
        <p:txBody>
          <a:bodyPr wrap="square">
            <a:spAutoFit/>
          </a:bodyPr>
          <a:lstStyle/>
          <a:p>
            <a:pPr algn="l">
              <a:buNone/>
            </a:pPr>
            <a:r>
              <a:rPr lang="en-US" b="1" i="0" u="none" strike="noStrike" dirty="0">
                <a:solidFill>
                  <a:srgbClr val="000000"/>
                </a:solidFill>
                <a:effectLst/>
                <a:latin typeface="Arial" panose="020B0604020202020204" pitchFamily="34" charset="0"/>
                <a:cs typeface="Arial" panose="020B0604020202020204" pitchFamily="34" charset="0"/>
              </a:rPr>
              <a:t>What is Random Forest Regression (RF)</a:t>
            </a:r>
          </a:p>
        </p:txBody>
      </p:sp>
    </p:spTree>
    <p:extLst>
      <p:ext uri="{BB962C8B-B14F-4D97-AF65-F5344CB8AC3E}">
        <p14:creationId xmlns:p14="http://schemas.microsoft.com/office/powerpoint/2010/main" val="836552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C1D92-0384-5C56-EE49-9BBC5FF90BE7}"/>
              </a:ext>
            </a:extLst>
          </p:cNvPr>
          <p:cNvSpPr txBox="1"/>
          <p:nvPr/>
        </p:nvSpPr>
        <p:spPr>
          <a:xfrm>
            <a:off x="3326875" y="-15854"/>
            <a:ext cx="6432422" cy="400110"/>
          </a:xfrm>
          <a:prstGeom prst="rect">
            <a:avLst/>
          </a:prstGeom>
          <a:noFill/>
        </p:spPr>
        <p:txBody>
          <a:bodyPr wrap="square">
            <a:spAutoFit/>
          </a:bodyPr>
          <a:lstStyle/>
          <a:p>
            <a:r>
              <a:rPr lang="en-US" sz="2000" b="1" i="0" u="none" strike="noStrike" dirty="0">
                <a:solidFill>
                  <a:srgbClr val="000000"/>
                </a:solidFill>
                <a:effectLst/>
                <a:latin typeface="Arial" panose="020B0604020202020204" pitchFamily="34" charset="0"/>
                <a:cs typeface="Arial" panose="020B0604020202020204" pitchFamily="34" charset="0"/>
              </a:rPr>
              <a:t>What is </a:t>
            </a:r>
            <a:r>
              <a:rPr lang="en-US" sz="2000" b="1" dirty="0">
                <a:latin typeface="Arial" panose="020B0604020202020204" pitchFamily="34" charset="0"/>
                <a:cs typeface="Arial" panose="020B0604020202020204" pitchFamily="34" charset="0"/>
              </a:rPr>
              <a:t>Multilayer Perceptron (MLP)</a:t>
            </a:r>
            <a:r>
              <a:rPr lang="en-US" sz="2000" dirty="0">
                <a:latin typeface="Arial" panose="020B0604020202020204" pitchFamily="34" charset="0"/>
                <a:cs typeface="Arial" panose="020B0604020202020204" pitchFamily="34" charset="0"/>
              </a:rPr>
              <a:t> </a:t>
            </a:r>
            <a:r>
              <a:rPr lang="en-US" sz="2000" b="1" i="0" u="none" strike="noStrike" dirty="0">
                <a:solidFill>
                  <a:srgbClr val="000000"/>
                </a:solidFill>
                <a:effectLst/>
                <a:latin typeface="Arial" panose="020B0604020202020204" pitchFamily="34" charset="0"/>
                <a:cs typeface="Arial" panose="020B0604020202020204" pitchFamily="34" charset="0"/>
              </a:rPr>
              <a:t>?</a:t>
            </a:r>
          </a:p>
        </p:txBody>
      </p:sp>
      <p:sp>
        <p:nvSpPr>
          <p:cNvPr id="7" name="TextBox 6">
            <a:extLst>
              <a:ext uri="{FF2B5EF4-FFF2-40B4-BE49-F238E27FC236}">
                <a16:creationId xmlns:a16="http://schemas.microsoft.com/office/drawing/2014/main" id="{59539AE4-B01A-0828-EF3D-A2E1F5A75073}"/>
              </a:ext>
            </a:extLst>
          </p:cNvPr>
          <p:cNvSpPr txBox="1"/>
          <p:nvPr/>
        </p:nvSpPr>
        <p:spPr>
          <a:xfrm>
            <a:off x="78192" y="386177"/>
            <a:ext cx="12035615"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Multilayer Perceptron (MLP)</a:t>
            </a:r>
            <a:r>
              <a:rPr lang="en-US" dirty="0">
                <a:latin typeface="Arial" panose="020B0604020202020204" pitchFamily="34" charset="0"/>
                <a:cs typeface="Arial" panose="020B0604020202020204" pitchFamily="34" charset="0"/>
              </a:rPr>
              <a:t> is a type of </a:t>
            </a:r>
            <a:r>
              <a:rPr lang="en-US" b="1" dirty="0">
                <a:latin typeface="Arial" panose="020B0604020202020204" pitchFamily="34" charset="0"/>
                <a:cs typeface="Arial" panose="020B0604020202020204" pitchFamily="34" charset="0"/>
              </a:rPr>
              <a:t>neural network</a:t>
            </a:r>
            <a:r>
              <a:rPr lang="en-US" dirty="0">
                <a:latin typeface="Arial" panose="020B0604020202020204" pitchFamily="34" charset="0"/>
                <a:cs typeface="Arial" panose="020B0604020202020204" pitchFamily="34" charset="0"/>
              </a:rPr>
              <a:t> used for tasks like regression or classification. It’s made up of layers of connected neurons:</a:t>
            </a:r>
          </a:p>
          <a:p>
            <a:pPr>
              <a:buFont typeface="Arial" panose="020B0604020202020204" pitchFamily="34" charset="0"/>
              <a:buChar char="•"/>
            </a:pPr>
            <a:r>
              <a:rPr lang="en-US" b="1" dirty="0">
                <a:latin typeface="Arial" panose="020B0604020202020204" pitchFamily="34" charset="0"/>
                <a:cs typeface="Arial" panose="020B0604020202020204" pitchFamily="34" charset="0"/>
              </a:rPr>
              <a:t>Input layer</a:t>
            </a:r>
            <a:r>
              <a:rPr lang="en-US" dirty="0">
                <a:latin typeface="Arial" panose="020B0604020202020204" pitchFamily="34" charset="0"/>
                <a:cs typeface="Arial" panose="020B0604020202020204" pitchFamily="34" charset="0"/>
              </a:rPr>
              <a:t>: where the data comes in</a:t>
            </a:r>
          </a:p>
          <a:p>
            <a:pPr>
              <a:buFont typeface="Arial" panose="020B0604020202020204" pitchFamily="34" charset="0"/>
              <a:buChar char="•"/>
            </a:pPr>
            <a:r>
              <a:rPr lang="en-US" b="1" dirty="0">
                <a:latin typeface="Arial" panose="020B0604020202020204" pitchFamily="34" charset="0"/>
                <a:cs typeface="Arial" panose="020B0604020202020204" pitchFamily="34" charset="0"/>
              </a:rPr>
              <a:t>Hidden layer(s)</a:t>
            </a:r>
            <a:r>
              <a:rPr lang="en-US" dirty="0">
                <a:latin typeface="Arial" panose="020B0604020202020204" pitchFamily="34" charset="0"/>
                <a:cs typeface="Arial" panose="020B0604020202020204" pitchFamily="34" charset="0"/>
              </a:rPr>
              <a:t>: where most of the computation happens</a:t>
            </a:r>
          </a:p>
          <a:p>
            <a:pPr>
              <a:buFont typeface="Arial" panose="020B0604020202020204" pitchFamily="34" charset="0"/>
              <a:buChar char="•"/>
            </a:pPr>
            <a:r>
              <a:rPr lang="en-US" b="1" dirty="0">
                <a:latin typeface="Arial" panose="020B0604020202020204" pitchFamily="34" charset="0"/>
                <a:cs typeface="Arial" panose="020B0604020202020204" pitchFamily="34" charset="0"/>
              </a:rPr>
              <a:t>Output layer</a:t>
            </a:r>
            <a:r>
              <a:rPr lang="en-US" dirty="0">
                <a:latin typeface="Arial" panose="020B0604020202020204" pitchFamily="34" charset="0"/>
                <a:cs typeface="Arial" panose="020B0604020202020204" pitchFamily="34" charset="0"/>
              </a:rPr>
              <a:t>: where the prediction comes out</a:t>
            </a:r>
          </a:p>
          <a:p>
            <a:r>
              <a:rPr lang="en-US" dirty="0">
                <a:latin typeface="Arial" panose="020B0604020202020204" pitchFamily="34" charset="0"/>
                <a:cs typeface="Arial" panose="020B0604020202020204" pitchFamily="34" charset="0"/>
              </a:rPr>
              <a:t>Each neuron takes some inputs, does a weighted sum, applies an activation function, and passes the result forward.</a:t>
            </a:r>
          </a:p>
        </p:txBody>
      </p:sp>
      <p:sp>
        <p:nvSpPr>
          <p:cNvPr id="11" name="TextBox 10">
            <a:extLst>
              <a:ext uri="{FF2B5EF4-FFF2-40B4-BE49-F238E27FC236}">
                <a16:creationId xmlns:a16="http://schemas.microsoft.com/office/drawing/2014/main" id="{5548FCE8-66CA-9F40-095B-8DD6CF34BD73}"/>
              </a:ext>
            </a:extLst>
          </p:cNvPr>
          <p:cNvSpPr txBox="1"/>
          <p:nvPr/>
        </p:nvSpPr>
        <p:spPr>
          <a:xfrm>
            <a:off x="78192" y="2248504"/>
            <a:ext cx="11881286" cy="4801314"/>
          </a:xfrm>
          <a:prstGeom prst="rect">
            <a:avLst/>
          </a:prstGeom>
          <a:noFill/>
        </p:spPr>
        <p:txBody>
          <a:bodyPr wrap="square">
            <a:spAutoFit/>
          </a:bodyPr>
          <a:lstStyle/>
          <a:p>
            <a:pPr>
              <a:buNone/>
            </a:pPr>
            <a:r>
              <a:rPr lang="cy-GB" b="1" dirty="0">
                <a:latin typeface="Arial" panose="020B0604020202020204" pitchFamily="34" charset="0"/>
                <a:cs typeface="Arial" panose="020B0604020202020204" pitchFamily="34" charset="0"/>
              </a:rPr>
              <a:t>1: Initialize  </a:t>
            </a:r>
            <a:r>
              <a:rPr lang="cy-GB" dirty="0">
                <a:latin typeface="Arial" panose="020B0604020202020204" pitchFamily="34" charset="0"/>
                <a:cs typeface="Arial" panose="020B0604020202020204" pitchFamily="34" charset="0"/>
              </a:rPr>
              <a:t>Randomly initialize weights and biases for each layer.</a:t>
            </a:r>
          </a:p>
          <a:p>
            <a:pPr>
              <a:buNone/>
            </a:pPr>
            <a:r>
              <a:rPr lang="cy-GB" b="1" dirty="0">
                <a:latin typeface="Arial" panose="020B0604020202020204" pitchFamily="34" charset="0"/>
                <a:cs typeface="Arial" panose="020B0604020202020204" pitchFamily="34" charset="0"/>
              </a:rPr>
              <a:t>2. Forward Pass </a:t>
            </a:r>
          </a:p>
          <a:p>
            <a:pPr>
              <a:buNone/>
            </a:pPr>
            <a:r>
              <a:rPr lang="cy-GB" dirty="0">
                <a:latin typeface="Arial" panose="020B0604020202020204" pitchFamily="34" charset="0"/>
                <a:cs typeface="Arial" panose="020B0604020202020204" pitchFamily="34" charset="0"/>
              </a:rPr>
              <a:t>For each training sample:</a:t>
            </a:r>
          </a:p>
          <a:p>
            <a:pPr lvl="1">
              <a:buFont typeface="+mj-lt"/>
              <a:buAutoNum type="arabicPeriod"/>
            </a:pPr>
            <a:r>
              <a:rPr lang="cy-GB" dirty="0">
                <a:latin typeface="Arial" panose="020B0604020202020204" pitchFamily="34" charset="0"/>
                <a:cs typeface="Arial" panose="020B0604020202020204" pitchFamily="34" charset="0"/>
              </a:rPr>
              <a:t>Pass input through the input layer.</a:t>
            </a:r>
          </a:p>
          <a:p>
            <a:pPr lvl="1">
              <a:buFont typeface="+mj-lt"/>
              <a:buAutoNum type="arabicPeriod"/>
            </a:pPr>
            <a:r>
              <a:rPr lang="cy-GB" dirty="0">
                <a:latin typeface="Arial" panose="020B0604020202020204" pitchFamily="34" charset="0"/>
                <a:cs typeface="Arial" panose="020B0604020202020204" pitchFamily="34" charset="0"/>
              </a:rPr>
              <a:t>For each layer:</a:t>
            </a:r>
          </a:p>
          <a:p>
            <a:pPr marL="1200150" lvl="2" indent="-285750">
              <a:buFont typeface="+mj-lt"/>
              <a:buAutoNum type="arabicPeriod"/>
            </a:pPr>
            <a:r>
              <a:rPr lang="cy-GB" dirty="0">
                <a:latin typeface="Arial" panose="020B0604020202020204" pitchFamily="34" charset="0"/>
                <a:cs typeface="Arial" panose="020B0604020202020204" pitchFamily="34" charset="0"/>
              </a:rPr>
              <a:t>z = W·x + b (weighted sum)</a:t>
            </a:r>
          </a:p>
          <a:p>
            <a:pPr marL="1200150" lvl="2" indent="-285750">
              <a:buFont typeface="+mj-lt"/>
              <a:buAutoNum type="arabicPeriod"/>
            </a:pPr>
            <a:r>
              <a:rPr lang="cy-GB" dirty="0">
                <a:latin typeface="Arial" panose="020B0604020202020204" pitchFamily="34" charset="0"/>
                <a:cs typeface="Arial" panose="020B0604020202020204" pitchFamily="34" charset="0"/>
              </a:rPr>
              <a:t>a = activation(z) </a:t>
            </a:r>
          </a:p>
          <a:p>
            <a:pPr lvl="1">
              <a:buFont typeface="+mj-lt"/>
              <a:buAutoNum type="arabicPeriod"/>
            </a:pPr>
            <a:r>
              <a:rPr lang="cy-GB" dirty="0">
                <a:latin typeface="Arial" panose="020B0604020202020204" pitchFamily="34" charset="0"/>
                <a:cs typeface="Arial" panose="020B0604020202020204" pitchFamily="34" charset="0"/>
              </a:rPr>
              <a:t>Continue until you get the final output prediction ŷ.</a:t>
            </a:r>
          </a:p>
          <a:p>
            <a:pPr>
              <a:buNone/>
            </a:pPr>
            <a:r>
              <a:rPr lang="cy-GB" b="1" dirty="0">
                <a:latin typeface="Arial" panose="020B0604020202020204" pitchFamily="34" charset="0"/>
                <a:cs typeface="Arial" panose="020B0604020202020204" pitchFamily="34" charset="0"/>
              </a:rPr>
              <a:t>3. Compute Loss</a:t>
            </a:r>
          </a:p>
          <a:p>
            <a:r>
              <a:rPr lang="cy-GB" dirty="0">
                <a:latin typeface="Arial" panose="020B0604020202020204" pitchFamily="34" charset="0"/>
                <a:cs typeface="Arial" panose="020B0604020202020204" pitchFamily="34" charset="0"/>
              </a:rPr>
              <a:t>Compare the prediction ŷ to the true value y using a loss function (e.g., MSE for regression):</a:t>
            </a:r>
          </a:p>
          <a:p>
            <a:pPr>
              <a:buNone/>
            </a:pPr>
            <a:r>
              <a:rPr lang="cy-GB" b="1" dirty="0">
                <a:latin typeface="Arial" panose="020B0604020202020204" pitchFamily="34" charset="0"/>
                <a:cs typeface="Arial" panose="020B0604020202020204" pitchFamily="34" charset="0"/>
              </a:rPr>
              <a:t>4: Backward Pass (Backpropagation)</a:t>
            </a:r>
          </a:p>
          <a:p>
            <a:r>
              <a:rPr lang="cy-GB" dirty="0">
                <a:latin typeface="Arial" panose="020B0604020202020204" pitchFamily="34" charset="0"/>
                <a:cs typeface="Arial" panose="020B0604020202020204" pitchFamily="34" charset="0"/>
              </a:rPr>
              <a:t>Compute gradients of the loss with respect to all weights and biases.</a:t>
            </a:r>
          </a:p>
          <a:p>
            <a:r>
              <a:rPr lang="cy-GB" dirty="0">
                <a:latin typeface="Arial" panose="020B0604020202020204" pitchFamily="34" charset="0"/>
                <a:cs typeface="Arial" panose="020B0604020202020204" pitchFamily="34" charset="0"/>
              </a:rPr>
              <a:t>Use the chain rule to go layer by layer backward, adjusting the parameters.</a:t>
            </a:r>
          </a:p>
          <a:p>
            <a:r>
              <a:rPr lang="cy-GB" b="1" dirty="0">
                <a:latin typeface="Arial" panose="020B0604020202020204" pitchFamily="34" charset="0"/>
                <a:cs typeface="Arial" panose="020B0604020202020204" pitchFamily="34" charset="0"/>
              </a:rPr>
              <a:t>5. Update Weights</a:t>
            </a:r>
          </a:p>
          <a:p>
            <a:r>
              <a:rPr lang="cy-GB" dirty="0">
                <a:latin typeface="Arial" panose="020B0604020202020204" pitchFamily="34" charset="0"/>
                <a:cs typeface="Arial" panose="020B0604020202020204" pitchFamily="34" charset="0"/>
              </a:rPr>
              <a:t>Use an optimizer (gradient descent, Adam...) to update weights:</a:t>
            </a:r>
            <a:r>
              <a:rPr lang="en-US" b="1" dirty="0">
                <a:latin typeface="Arial" panose="020B0604020202020204" pitchFamily="34" charset="0"/>
                <a:cs typeface="Arial" panose="020B0604020202020204" pitchFamily="34" charset="0"/>
              </a:rPr>
              <a:t>                                 , </a:t>
            </a:r>
            <a:r>
              <a:rPr lang="en-US" dirty="0">
                <a:latin typeface="Arial" panose="020B0604020202020204" pitchFamily="34" charset="0"/>
                <a:cs typeface="Arial" panose="020B0604020202020204" pitchFamily="34" charset="0"/>
              </a:rPr>
              <a:t>where </a:t>
            </a:r>
            <a:r>
              <a:rPr lang="el-GR" dirty="0">
                <a:latin typeface="Arial" panose="020B0604020202020204" pitchFamily="34" charset="0"/>
                <a:cs typeface="Arial" panose="020B0604020202020204" pitchFamily="34" charset="0"/>
              </a:rPr>
              <a:t>η </a:t>
            </a:r>
            <a:r>
              <a:rPr lang="en-US" dirty="0">
                <a:latin typeface="Arial" panose="020B0604020202020204" pitchFamily="34" charset="0"/>
                <a:cs typeface="Arial" panose="020B0604020202020204" pitchFamily="34" charset="0"/>
              </a:rPr>
              <a:t>is the learning rate.</a:t>
            </a:r>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6. Repeat </a:t>
            </a:r>
            <a:r>
              <a:rPr lang="en-US" dirty="0">
                <a:latin typeface="Arial" panose="020B0604020202020204" pitchFamily="34" charset="0"/>
                <a:cs typeface="Arial" panose="020B0604020202020204" pitchFamily="34" charset="0"/>
              </a:rPr>
              <a:t>Loop over all training data for multiple epochs until loss is minimized.</a:t>
            </a:r>
          </a:p>
          <a:p>
            <a:endParaRPr lang="cy-GB" dirty="0"/>
          </a:p>
        </p:txBody>
      </p:sp>
      <p:pic>
        <p:nvPicPr>
          <p:cNvPr id="5" name="Picture 4" descr="A diagram of a network&#10;&#10;AI-generated content may be incorrect.">
            <a:extLst>
              <a:ext uri="{FF2B5EF4-FFF2-40B4-BE49-F238E27FC236}">
                <a16:creationId xmlns:a16="http://schemas.microsoft.com/office/drawing/2014/main" id="{1938216E-C5CA-9909-C0F7-13C90FDF6CF2}"/>
              </a:ext>
            </a:extLst>
          </p:cNvPr>
          <p:cNvPicPr>
            <a:picLocks noChangeAspect="1"/>
          </p:cNvPicPr>
          <p:nvPr/>
        </p:nvPicPr>
        <p:blipFill>
          <a:blip r:embed="rId3"/>
          <a:stretch>
            <a:fillRect/>
          </a:stretch>
        </p:blipFill>
        <p:spPr>
          <a:xfrm>
            <a:off x="8021256" y="2327064"/>
            <a:ext cx="3930731" cy="2458396"/>
          </a:xfrm>
          <a:prstGeom prst="rect">
            <a:avLst/>
          </a:prstGeom>
        </p:spPr>
      </p:pic>
      <p:pic>
        <p:nvPicPr>
          <p:cNvPr id="15" name="Picture 14" descr="A black and white math equation&#10;&#10;AI-generated content may be incorrect.">
            <a:extLst>
              <a:ext uri="{FF2B5EF4-FFF2-40B4-BE49-F238E27FC236}">
                <a16:creationId xmlns:a16="http://schemas.microsoft.com/office/drawing/2014/main" id="{42E8C0B0-2FD7-FE67-CC3E-A787E0B5B5D9}"/>
              </a:ext>
            </a:extLst>
          </p:cNvPr>
          <p:cNvPicPr>
            <a:picLocks noChangeAspect="1"/>
          </p:cNvPicPr>
          <p:nvPr/>
        </p:nvPicPr>
        <p:blipFill>
          <a:blip r:embed="rId4"/>
          <a:stretch>
            <a:fillRect/>
          </a:stretch>
        </p:blipFill>
        <p:spPr>
          <a:xfrm>
            <a:off x="6788550" y="5888864"/>
            <a:ext cx="1798042" cy="535372"/>
          </a:xfrm>
          <a:prstGeom prst="rect">
            <a:avLst/>
          </a:prstGeom>
        </p:spPr>
      </p:pic>
      <p:sp>
        <p:nvSpPr>
          <p:cNvPr id="16" name="Slide Number Placeholder 15">
            <a:extLst>
              <a:ext uri="{FF2B5EF4-FFF2-40B4-BE49-F238E27FC236}">
                <a16:creationId xmlns:a16="http://schemas.microsoft.com/office/drawing/2014/main" id="{A8262CA1-2550-577F-B36B-FD3BED1861AD}"/>
              </a:ext>
            </a:extLst>
          </p:cNvPr>
          <p:cNvSpPr>
            <a:spLocks noGrp="1"/>
          </p:cNvSpPr>
          <p:nvPr>
            <p:ph type="sldNum" sz="quarter" idx="12"/>
          </p:nvPr>
        </p:nvSpPr>
        <p:spPr/>
        <p:txBody>
          <a:bodyPr/>
          <a:lstStyle/>
          <a:p>
            <a:fld id="{83863B2D-D332-084B-BF65-F0D9A30319D9}" type="slidenum">
              <a:rPr lang="en-US" smtClean="0"/>
              <a:t>6</a:t>
            </a:fld>
            <a:endParaRPr lang="en-US"/>
          </a:p>
        </p:txBody>
      </p:sp>
    </p:spTree>
    <p:extLst>
      <p:ext uri="{BB962C8B-B14F-4D97-AF65-F5344CB8AC3E}">
        <p14:creationId xmlns:p14="http://schemas.microsoft.com/office/powerpoint/2010/main" val="1083155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9B9EB0-AB9F-9DA3-24A5-96B895DC254B}"/>
              </a:ext>
            </a:extLst>
          </p:cNvPr>
          <p:cNvSpPr txBox="1"/>
          <p:nvPr/>
        </p:nvSpPr>
        <p:spPr>
          <a:xfrm>
            <a:off x="4557469" y="136525"/>
            <a:ext cx="10001955" cy="400110"/>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What is SHAP?</a:t>
            </a:r>
          </a:p>
        </p:txBody>
      </p:sp>
      <p:sp>
        <p:nvSpPr>
          <p:cNvPr id="6" name="TextBox 5">
            <a:extLst>
              <a:ext uri="{FF2B5EF4-FFF2-40B4-BE49-F238E27FC236}">
                <a16:creationId xmlns:a16="http://schemas.microsoft.com/office/drawing/2014/main" id="{9B01721E-B00C-E000-7A98-2A42BAB344D8}"/>
              </a:ext>
            </a:extLst>
          </p:cNvPr>
          <p:cNvSpPr txBox="1"/>
          <p:nvPr/>
        </p:nvSpPr>
        <p:spPr>
          <a:xfrm>
            <a:off x="264317" y="809923"/>
            <a:ext cx="11784723"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SHAP (</a:t>
            </a:r>
            <a:r>
              <a:rPr lang="en-US" b="1" dirty="0" err="1">
                <a:latin typeface="Arial" panose="020B0604020202020204" pitchFamily="34" charset="0"/>
                <a:cs typeface="Arial" panose="020B0604020202020204" pitchFamily="34" charset="0"/>
              </a:rPr>
              <a:t>SHapley</a:t>
            </a:r>
            <a:r>
              <a:rPr lang="en-US" b="1" dirty="0">
                <a:latin typeface="Arial" panose="020B0604020202020204" pitchFamily="34" charset="0"/>
                <a:cs typeface="Arial" panose="020B0604020202020204" pitchFamily="34" charset="0"/>
              </a:rPr>
              <a:t> Additive </a:t>
            </a:r>
            <a:r>
              <a:rPr lang="en-US" b="1" dirty="0" err="1">
                <a:latin typeface="Arial" panose="020B0604020202020204" pitchFamily="34" charset="0"/>
                <a:cs typeface="Arial" panose="020B0604020202020204" pitchFamily="34" charset="0"/>
              </a:rPr>
              <a:t>exPlanations</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explains </a:t>
            </a:r>
            <a:r>
              <a:rPr lang="en-US" b="1" dirty="0">
                <a:latin typeface="Arial" panose="020B0604020202020204" pitchFamily="34" charset="0"/>
                <a:cs typeface="Arial" panose="020B0604020202020204" pitchFamily="34" charset="0"/>
              </a:rPr>
              <a:t>how much each predictor contributed</a:t>
            </a:r>
            <a:r>
              <a:rPr lang="en-US" dirty="0">
                <a:latin typeface="Arial" panose="020B0604020202020204" pitchFamily="34" charset="0"/>
                <a:cs typeface="Arial" panose="020B0604020202020204" pitchFamily="34" charset="0"/>
              </a:rPr>
              <a:t> to a model’s prediction, for each individual prediction.</a:t>
            </a:r>
          </a:p>
        </p:txBody>
      </p:sp>
      <p:sp>
        <p:nvSpPr>
          <p:cNvPr id="7" name="TextBox 6">
            <a:extLst>
              <a:ext uri="{FF2B5EF4-FFF2-40B4-BE49-F238E27FC236}">
                <a16:creationId xmlns:a16="http://schemas.microsoft.com/office/drawing/2014/main" id="{6BA9D2E6-A024-661D-1622-1DE3897B52C3}"/>
              </a:ext>
            </a:extLst>
          </p:cNvPr>
          <p:cNvSpPr txBox="1"/>
          <p:nvPr/>
        </p:nvSpPr>
        <p:spPr>
          <a:xfrm>
            <a:off x="264318" y="1592116"/>
            <a:ext cx="11265695"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Imagine a </a:t>
            </a:r>
            <a:r>
              <a:rPr lang="en-US" b="1" dirty="0">
                <a:latin typeface="Arial" panose="020B0604020202020204" pitchFamily="34" charset="0"/>
                <a:cs typeface="Arial" panose="020B0604020202020204" pitchFamily="34" charset="0"/>
              </a:rPr>
              <a:t>team of features</a:t>
            </a:r>
            <a:r>
              <a:rPr lang="en-US" dirty="0">
                <a:latin typeface="Arial" panose="020B0604020202020204" pitchFamily="34" charset="0"/>
                <a:cs typeface="Arial" panose="020B0604020202020204" pitchFamily="34" charset="0"/>
              </a:rPr>
              <a:t> playing a game to predict bottom oxygen. The final prediction is the “score” the team achieves. SHAP asks:</a:t>
            </a:r>
            <a:r>
              <a:rPr lang="zh-CN" altLang="en-US"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"If we remove one player (surface measurement type), how much does the team’s score change?"</a:t>
            </a:r>
          </a:p>
          <a:p>
            <a:r>
              <a:rPr lang="en-US" dirty="0">
                <a:latin typeface="Arial" panose="020B0604020202020204" pitchFamily="34" charset="0"/>
                <a:cs typeface="Arial" panose="020B0604020202020204" pitchFamily="34" charset="0"/>
              </a:rPr>
              <a:t>By testing </a:t>
            </a:r>
            <a:r>
              <a:rPr lang="en-US" b="1" dirty="0">
                <a:latin typeface="Arial" panose="020B0604020202020204" pitchFamily="34" charset="0"/>
                <a:cs typeface="Arial" panose="020B0604020202020204" pitchFamily="34" charset="0"/>
              </a:rPr>
              <a:t>all combinations of feature contributions</a:t>
            </a:r>
            <a:r>
              <a:rPr lang="en-US" dirty="0">
                <a:latin typeface="Arial" panose="020B0604020202020204" pitchFamily="34" charset="0"/>
                <a:cs typeface="Arial" panose="020B0604020202020204" pitchFamily="34" charset="0"/>
              </a:rPr>
              <a:t>, SHAP computes each feature’s </a:t>
            </a:r>
            <a:r>
              <a:rPr lang="en-US" b="1" dirty="0">
                <a:latin typeface="Arial" panose="020B0604020202020204" pitchFamily="34" charset="0"/>
                <a:cs typeface="Arial" panose="020B0604020202020204" pitchFamily="34" charset="0"/>
              </a:rPr>
              <a:t>average contribution</a:t>
            </a:r>
            <a:r>
              <a:rPr lang="en-US" dirty="0">
                <a:latin typeface="Arial" panose="020B0604020202020204" pitchFamily="34" charset="0"/>
                <a:cs typeface="Arial" panose="020B0604020202020204" pitchFamily="34" charset="0"/>
              </a:rPr>
              <a:t> — this is the </a:t>
            </a:r>
            <a:r>
              <a:rPr lang="en-US" b="1" dirty="0">
                <a:latin typeface="Arial" panose="020B0604020202020204" pitchFamily="34" charset="0"/>
                <a:cs typeface="Arial" panose="020B0604020202020204" pitchFamily="34" charset="0"/>
              </a:rPr>
              <a:t>SHAP value</a:t>
            </a:r>
            <a:r>
              <a:rPr lang="en-US" dirty="0">
                <a:latin typeface="Arial" panose="020B0604020202020204" pitchFamily="34" charset="0"/>
                <a:cs typeface="Arial" panose="020B0604020202020204" pitchFamily="34" charset="0"/>
              </a:rPr>
              <a:t>.</a:t>
            </a:r>
          </a:p>
        </p:txBody>
      </p:sp>
      <p:sp>
        <p:nvSpPr>
          <p:cNvPr id="8" name="Slide Number Placeholder 7">
            <a:extLst>
              <a:ext uri="{FF2B5EF4-FFF2-40B4-BE49-F238E27FC236}">
                <a16:creationId xmlns:a16="http://schemas.microsoft.com/office/drawing/2014/main" id="{237AF468-36CE-6FD0-4D83-1A09454D6A8D}"/>
              </a:ext>
            </a:extLst>
          </p:cNvPr>
          <p:cNvSpPr>
            <a:spLocks noGrp="1"/>
          </p:cNvSpPr>
          <p:nvPr>
            <p:ph type="sldNum" sz="quarter" idx="12"/>
          </p:nvPr>
        </p:nvSpPr>
        <p:spPr/>
        <p:txBody>
          <a:bodyPr/>
          <a:lstStyle/>
          <a:p>
            <a:fld id="{83863B2D-D332-084B-BF65-F0D9A30319D9}" type="slidenum">
              <a:rPr lang="en-US" smtClean="0"/>
              <a:t>7</a:t>
            </a:fld>
            <a:endParaRPr lang="en-US"/>
          </a:p>
        </p:txBody>
      </p:sp>
    </p:spTree>
    <p:extLst>
      <p:ext uri="{BB962C8B-B14F-4D97-AF65-F5344CB8AC3E}">
        <p14:creationId xmlns:p14="http://schemas.microsoft.com/office/powerpoint/2010/main" val="4167808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3B39873-4F1C-81B5-97A0-BC268173232F}"/>
              </a:ext>
            </a:extLst>
          </p:cNvPr>
          <p:cNvSpPr txBox="1"/>
          <p:nvPr/>
        </p:nvSpPr>
        <p:spPr>
          <a:xfrm>
            <a:off x="4717587" y="2771005"/>
            <a:ext cx="4893275" cy="523220"/>
          </a:xfrm>
          <a:prstGeom prst="rect">
            <a:avLst/>
          </a:prstGeom>
          <a:noFill/>
        </p:spPr>
        <p:txBody>
          <a:bodyPr wrap="square" rtlCol="0">
            <a:spAutoFit/>
          </a:bodyPr>
          <a:lstStyle/>
          <a:p>
            <a:r>
              <a:rPr lang="en-US" sz="2800" b="1" dirty="0"/>
              <a:t>Playground time!</a:t>
            </a:r>
          </a:p>
        </p:txBody>
      </p:sp>
    </p:spTree>
    <p:extLst>
      <p:ext uri="{BB962C8B-B14F-4D97-AF65-F5344CB8AC3E}">
        <p14:creationId xmlns:p14="http://schemas.microsoft.com/office/powerpoint/2010/main" val="431245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10890</TotalTime>
  <Words>1015</Words>
  <Application>Microsoft Macintosh PowerPoint</Application>
  <PresentationFormat>Widescreen</PresentationFormat>
  <Paragraphs>88</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Xiao Xu Guo</dc:creator>
  <cp:lastModifiedBy>Xiao Xu Guo</cp:lastModifiedBy>
  <cp:revision>3</cp:revision>
  <dcterms:created xsi:type="dcterms:W3CDTF">2026-03-26T14:47:16Z</dcterms:created>
  <dcterms:modified xsi:type="dcterms:W3CDTF">2026-04-03T13:24:53Z</dcterms:modified>
</cp:coreProperties>
</file>